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332" r:id="rId2"/>
    <p:sldId id="333" r:id="rId3"/>
    <p:sldId id="313" r:id="rId4"/>
    <p:sldId id="314" r:id="rId5"/>
    <p:sldId id="315" r:id="rId6"/>
    <p:sldId id="316" r:id="rId7"/>
    <p:sldId id="317" r:id="rId8"/>
    <p:sldId id="318" r:id="rId9"/>
    <p:sldId id="278" r:id="rId10"/>
    <p:sldId id="286" r:id="rId11"/>
    <p:sldId id="272" r:id="rId12"/>
    <p:sldId id="287" r:id="rId13"/>
    <p:sldId id="334" r:id="rId14"/>
    <p:sldId id="279" r:id="rId15"/>
    <p:sldId id="311" r:id="rId16"/>
    <p:sldId id="310" r:id="rId17"/>
    <p:sldId id="281" r:id="rId18"/>
    <p:sldId id="283" r:id="rId19"/>
    <p:sldId id="331" r:id="rId20"/>
    <p:sldId id="30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5D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FFC52A-BBB0-F141-B129-6B7D7C4A34BA}" v="166" dt="2026-03-10T20:36:15.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42"/>
    <p:restoredTop sz="94137"/>
  </p:normalViewPr>
  <p:slideViewPr>
    <p:cSldViewPr snapToGrid="0">
      <p:cViewPr varScale="1">
        <p:scale>
          <a:sx n="127" d="100"/>
          <a:sy n="127" d="100"/>
        </p:scale>
        <p:origin x="42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nley Griffin" userId="22b0b6c4-ce40-4dd6-a0c2-f0f65dd91442" providerId="ADAL" clId="{E340F9FE-63CF-5DC1-BB85-0501F5A6B451}"/>
    <pc:docChg chg="undo custSel addSld delSld modSld">
      <pc:chgData name="Finley Griffin" userId="22b0b6c4-ce40-4dd6-a0c2-f0f65dd91442" providerId="ADAL" clId="{E340F9FE-63CF-5DC1-BB85-0501F5A6B451}" dt="2026-03-10T20:41:57.367" v="4020" actId="20577"/>
      <pc:docMkLst>
        <pc:docMk/>
      </pc:docMkLst>
      <pc:sldChg chg="modNotesTx">
        <pc:chgData name="Finley Griffin" userId="22b0b6c4-ce40-4dd6-a0c2-f0f65dd91442" providerId="ADAL" clId="{E340F9FE-63CF-5DC1-BB85-0501F5A6B451}" dt="2026-03-05T13:29:58.809" v="1813" actId="20577"/>
        <pc:sldMkLst>
          <pc:docMk/>
          <pc:sldMk cId="385288236" sldId="272"/>
        </pc:sldMkLst>
      </pc:sldChg>
      <pc:sldChg chg="addSp modSp mod modNotesTx">
        <pc:chgData name="Finley Griffin" userId="22b0b6c4-ce40-4dd6-a0c2-f0f65dd91442" providerId="ADAL" clId="{E340F9FE-63CF-5DC1-BB85-0501F5A6B451}" dt="2026-03-10T20:27:29.252" v="2609" actId="1076"/>
        <pc:sldMkLst>
          <pc:docMk/>
          <pc:sldMk cId="1582315303" sldId="278"/>
        </pc:sldMkLst>
        <pc:picChg chg="add mod">
          <ac:chgData name="Finley Griffin" userId="22b0b6c4-ce40-4dd6-a0c2-f0f65dd91442" providerId="ADAL" clId="{E340F9FE-63CF-5DC1-BB85-0501F5A6B451}" dt="2026-03-10T20:27:29.252" v="2609" actId="1076"/>
          <ac:picMkLst>
            <pc:docMk/>
            <pc:sldMk cId="1582315303" sldId="278"/>
            <ac:picMk id="3" creationId="{D2011DA7-22A1-64AB-4EDF-B582B3F81D4B}"/>
          </ac:picMkLst>
        </pc:picChg>
      </pc:sldChg>
      <pc:sldChg chg="modNotesTx">
        <pc:chgData name="Finley Griffin" userId="22b0b6c4-ce40-4dd6-a0c2-f0f65dd91442" providerId="ADAL" clId="{E340F9FE-63CF-5DC1-BB85-0501F5A6B451}" dt="2026-03-05T13:35:15.009" v="2048" actId="20577"/>
        <pc:sldMkLst>
          <pc:docMk/>
          <pc:sldMk cId="2753955194" sldId="279"/>
        </pc:sldMkLst>
      </pc:sldChg>
      <pc:sldChg chg="modNotesTx">
        <pc:chgData name="Finley Griffin" userId="22b0b6c4-ce40-4dd6-a0c2-f0f65dd91442" providerId="ADAL" clId="{E340F9FE-63CF-5DC1-BB85-0501F5A6B451}" dt="2026-03-05T13:29:19.719" v="1804" actId="20577"/>
        <pc:sldMkLst>
          <pc:docMk/>
          <pc:sldMk cId="1533927788" sldId="286"/>
        </pc:sldMkLst>
      </pc:sldChg>
      <pc:sldChg chg="modNotesTx">
        <pc:chgData name="Finley Griffin" userId="22b0b6c4-ce40-4dd6-a0c2-f0f65dd91442" providerId="ADAL" clId="{E340F9FE-63CF-5DC1-BB85-0501F5A6B451}" dt="2026-03-05T13:31:10.029" v="1930" actId="20577"/>
        <pc:sldMkLst>
          <pc:docMk/>
          <pc:sldMk cId="241864250" sldId="287"/>
        </pc:sldMkLst>
      </pc:sldChg>
      <pc:sldChg chg="modNotesTx">
        <pc:chgData name="Finley Griffin" userId="22b0b6c4-ce40-4dd6-a0c2-f0f65dd91442" providerId="ADAL" clId="{E340F9FE-63CF-5DC1-BB85-0501F5A6B451}" dt="2026-03-05T13:45:44.961" v="2333" actId="20577"/>
        <pc:sldMkLst>
          <pc:docMk/>
          <pc:sldMk cId="1363420478" sldId="309"/>
        </pc:sldMkLst>
      </pc:sldChg>
      <pc:sldChg chg="modNotesTx">
        <pc:chgData name="Finley Griffin" userId="22b0b6c4-ce40-4dd6-a0c2-f0f65dd91442" providerId="ADAL" clId="{E340F9FE-63CF-5DC1-BB85-0501F5A6B451}" dt="2026-03-05T13:42:00.060" v="2143" actId="20577"/>
        <pc:sldMkLst>
          <pc:docMk/>
          <pc:sldMk cId="2766979242" sldId="310"/>
        </pc:sldMkLst>
      </pc:sldChg>
      <pc:sldChg chg="modNotesTx">
        <pc:chgData name="Finley Griffin" userId="22b0b6c4-ce40-4dd6-a0c2-f0f65dd91442" providerId="ADAL" clId="{E340F9FE-63CF-5DC1-BB85-0501F5A6B451}" dt="2026-03-10T10:38:33.486" v="2597" actId="20577"/>
        <pc:sldMkLst>
          <pc:docMk/>
          <pc:sldMk cId="2117379087" sldId="313"/>
        </pc:sldMkLst>
      </pc:sldChg>
      <pc:sldChg chg="modNotesTx">
        <pc:chgData name="Finley Griffin" userId="22b0b6c4-ce40-4dd6-a0c2-f0f65dd91442" providerId="ADAL" clId="{E340F9FE-63CF-5DC1-BB85-0501F5A6B451}" dt="2026-03-10T10:38:40.035" v="2601" actId="20577"/>
        <pc:sldMkLst>
          <pc:docMk/>
          <pc:sldMk cId="1822460468" sldId="314"/>
        </pc:sldMkLst>
      </pc:sldChg>
      <pc:sldChg chg="modNotesTx">
        <pc:chgData name="Finley Griffin" userId="22b0b6c4-ce40-4dd6-a0c2-f0f65dd91442" providerId="ADAL" clId="{E340F9FE-63CF-5DC1-BB85-0501F5A6B451}" dt="2026-03-05T13:17:48.104" v="1357" actId="20577"/>
        <pc:sldMkLst>
          <pc:docMk/>
          <pc:sldMk cId="286825523" sldId="315"/>
        </pc:sldMkLst>
      </pc:sldChg>
      <pc:sldChg chg="modNotesTx">
        <pc:chgData name="Finley Griffin" userId="22b0b6c4-ce40-4dd6-a0c2-f0f65dd91442" providerId="ADAL" clId="{E340F9FE-63CF-5DC1-BB85-0501F5A6B451}" dt="2026-03-05T13:18:57.270" v="1370" actId="20577"/>
        <pc:sldMkLst>
          <pc:docMk/>
          <pc:sldMk cId="2072624961" sldId="316"/>
        </pc:sldMkLst>
      </pc:sldChg>
      <pc:sldChg chg="modNotesTx">
        <pc:chgData name="Finley Griffin" userId="22b0b6c4-ce40-4dd6-a0c2-f0f65dd91442" providerId="ADAL" clId="{E340F9FE-63CF-5DC1-BB85-0501F5A6B451}" dt="2026-03-05T13:19:32.104" v="1385" actId="20577"/>
        <pc:sldMkLst>
          <pc:docMk/>
          <pc:sldMk cId="3025584475" sldId="317"/>
        </pc:sldMkLst>
      </pc:sldChg>
      <pc:sldChg chg="addSp delSp modSp mod delAnim modAnim modNotesTx">
        <pc:chgData name="Finley Griffin" userId="22b0b6c4-ce40-4dd6-a0c2-f0f65dd91442" providerId="ADAL" clId="{E340F9FE-63CF-5DC1-BB85-0501F5A6B451}" dt="2026-03-05T13:23:55.472" v="1567" actId="1076"/>
        <pc:sldMkLst>
          <pc:docMk/>
          <pc:sldMk cId="2813265152" sldId="318"/>
        </pc:sldMkLst>
        <pc:spChg chg="add mod">
          <ac:chgData name="Finley Griffin" userId="22b0b6c4-ce40-4dd6-a0c2-f0f65dd91442" providerId="ADAL" clId="{E340F9FE-63CF-5DC1-BB85-0501F5A6B451}" dt="2026-03-05T13:23:41.233" v="1563" actId="207"/>
          <ac:spMkLst>
            <pc:docMk/>
            <pc:sldMk cId="2813265152" sldId="318"/>
            <ac:spMk id="2" creationId="{36A20216-E771-EF17-636C-FCBE561033CD}"/>
          </ac:spMkLst>
        </pc:spChg>
        <pc:spChg chg="add mod">
          <ac:chgData name="Finley Griffin" userId="22b0b6c4-ce40-4dd6-a0c2-f0f65dd91442" providerId="ADAL" clId="{E340F9FE-63CF-5DC1-BB85-0501F5A6B451}" dt="2026-03-05T13:23:41.233" v="1563" actId="207"/>
          <ac:spMkLst>
            <pc:docMk/>
            <pc:sldMk cId="2813265152" sldId="318"/>
            <ac:spMk id="3" creationId="{C5C1D25E-AACD-B681-621D-233775343983}"/>
          </ac:spMkLst>
        </pc:spChg>
        <pc:spChg chg="add mod">
          <ac:chgData name="Finley Griffin" userId="22b0b6c4-ce40-4dd6-a0c2-f0f65dd91442" providerId="ADAL" clId="{E340F9FE-63CF-5DC1-BB85-0501F5A6B451}" dt="2026-03-05T13:23:41.233" v="1563" actId="207"/>
          <ac:spMkLst>
            <pc:docMk/>
            <pc:sldMk cId="2813265152" sldId="318"/>
            <ac:spMk id="4" creationId="{10C984AC-17A8-1BF5-0F97-225AC2AB6004}"/>
          </ac:spMkLst>
        </pc:spChg>
        <pc:spChg chg="add mod">
          <ac:chgData name="Finley Griffin" userId="22b0b6c4-ce40-4dd6-a0c2-f0f65dd91442" providerId="ADAL" clId="{E340F9FE-63CF-5DC1-BB85-0501F5A6B451}" dt="2026-03-05T13:23:41.233" v="1563" actId="207"/>
          <ac:spMkLst>
            <pc:docMk/>
            <pc:sldMk cId="2813265152" sldId="318"/>
            <ac:spMk id="5" creationId="{126F894B-07A4-94E1-18FA-FD56BE421B24}"/>
          </ac:spMkLst>
        </pc:spChg>
        <pc:spChg chg="add mod">
          <ac:chgData name="Finley Griffin" userId="22b0b6c4-ce40-4dd6-a0c2-f0f65dd91442" providerId="ADAL" clId="{E340F9FE-63CF-5DC1-BB85-0501F5A6B451}" dt="2026-03-05T13:23:41.233" v="1563" actId="207"/>
          <ac:spMkLst>
            <pc:docMk/>
            <pc:sldMk cId="2813265152" sldId="318"/>
            <ac:spMk id="8" creationId="{CD1D8ADA-0FCB-F074-045D-636D497C9D7E}"/>
          </ac:spMkLst>
        </pc:spChg>
        <pc:spChg chg="mod">
          <ac:chgData name="Finley Griffin" userId="22b0b6c4-ce40-4dd6-a0c2-f0f65dd91442" providerId="ADAL" clId="{E340F9FE-63CF-5DC1-BB85-0501F5A6B451}" dt="2026-03-05T13:23:54.245" v="1565" actId="207"/>
          <ac:spMkLst>
            <pc:docMk/>
            <pc:sldMk cId="2813265152" sldId="318"/>
            <ac:spMk id="11" creationId="{ECDE3E77-F1D8-C29A-65C8-B8A37BE81D17}"/>
          </ac:spMkLst>
        </pc:spChg>
        <pc:picChg chg="mod">
          <ac:chgData name="Finley Griffin" userId="22b0b6c4-ce40-4dd6-a0c2-f0f65dd91442" providerId="ADAL" clId="{E340F9FE-63CF-5DC1-BB85-0501F5A6B451}" dt="2026-03-05T13:23:55.472" v="1567" actId="1076"/>
          <ac:picMkLst>
            <pc:docMk/>
            <pc:sldMk cId="2813265152" sldId="318"/>
            <ac:picMk id="6" creationId="{C8DF7C4A-A14B-5DE0-3513-1C8EE8EF4768}"/>
          </ac:picMkLst>
        </pc:picChg>
      </pc:sldChg>
      <pc:sldChg chg="modSp mod modNotesTx">
        <pc:chgData name="Finley Griffin" userId="22b0b6c4-ce40-4dd6-a0c2-f0f65dd91442" providerId="ADAL" clId="{E340F9FE-63CF-5DC1-BB85-0501F5A6B451}" dt="2026-03-10T20:29:32.335" v="2799" actId="20577"/>
        <pc:sldMkLst>
          <pc:docMk/>
          <pc:sldMk cId="3396929114" sldId="331"/>
        </pc:sldMkLst>
        <pc:spChg chg="mod">
          <ac:chgData name="Finley Griffin" userId="22b0b6c4-ce40-4dd6-a0c2-f0f65dd91442" providerId="ADAL" clId="{E340F9FE-63CF-5DC1-BB85-0501F5A6B451}" dt="2026-03-10T20:29:03.308" v="2727" actId="20577"/>
          <ac:spMkLst>
            <pc:docMk/>
            <pc:sldMk cId="3396929114" sldId="331"/>
            <ac:spMk id="3" creationId="{C211C692-5C86-187E-EF20-61E53B60463F}"/>
          </ac:spMkLst>
        </pc:spChg>
        <pc:spChg chg="mod">
          <ac:chgData name="Finley Griffin" userId="22b0b6c4-ce40-4dd6-a0c2-f0f65dd91442" providerId="ADAL" clId="{E340F9FE-63CF-5DC1-BB85-0501F5A6B451}" dt="2026-03-10T20:29:32.335" v="2799" actId="20577"/>
          <ac:spMkLst>
            <pc:docMk/>
            <pc:sldMk cId="3396929114" sldId="331"/>
            <ac:spMk id="4" creationId="{1CFD4A1A-43D4-DA34-F4EE-5A302A3A8BBC}"/>
          </ac:spMkLst>
        </pc:spChg>
      </pc:sldChg>
      <pc:sldChg chg="modSp mod modNotesTx">
        <pc:chgData name="Finley Griffin" userId="22b0b6c4-ce40-4dd6-a0c2-f0f65dd91442" providerId="ADAL" clId="{E340F9FE-63CF-5DC1-BB85-0501F5A6B451}" dt="2026-03-10T09:41:31.020" v="2364" actId="20577"/>
        <pc:sldMkLst>
          <pc:docMk/>
          <pc:sldMk cId="3677417176" sldId="332"/>
        </pc:sldMkLst>
        <pc:spChg chg="mod">
          <ac:chgData name="Finley Griffin" userId="22b0b6c4-ce40-4dd6-a0c2-f0f65dd91442" providerId="ADAL" clId="{E340F9FE-63CF-5DC1-BB85-0501F5A6B451}" dt="2026-03-10T09:41:31.020" v="2364" actId="20577"/>
          <ac:spMkLst>
            <pc:docMk/>
            <pc:sldMk cId="3677417176" sldId="332"/>
            <ac:spMk id="4" creationId="{00000000-0000-0000-0000-000000000000}"/>
          </ac:spMkLst>
        </pc:spChg>
      </pc:sldChg>
      <pc:sldChg chg="addSp delSp modSp new mod">
        <pc:chgData name="Finley Griffin" userId="22b0b6c4-ce40-4dd6-a0c2-f0f65dd91442" providerId="ADAL" clId="{E340F9FE-63CF-5DC1-BB85-0501F5A6B451}" dt="2026-03-10T09:43:38.256" v="2594" actId="1076"/>
        <pc:sldMkLst>
          <pc:docMk/>
          <pc:sldMk cId="4191210072" sldId="333"/>
        </pc:sldMkLst>
        <pc:spChg chg="mod">
          <ac:chgData name="Finley Griffin" userId="22b0b6c4-ce40-4dd6-a0c2-f0f65dd91442" providerId="ADAL" clId="{E340F9FE-63CF-5DC1-BB85-0501F5A6B451}" dt="2026-03-10T09:42:05.501" v="2426" actId="20577"/>
          <ac:spMkLst>
            <pc:docMk/>
            <pc:sldMk cId="4191210072" sldId="333"/>
            <ac:spMk id="2" creationId="{E0420195-C79B-3B0F-D479-86340A2C12BB}"/>
          </ac:spMkLst>
        </pc:spChg>
        <pc:spChg chg="mod">
          <ac:chgData name="Finley Griffin" userId="22b0b6c4-ce40-4dd6-a0c2-f0f65dd91442" providerId="ADAL" clId="{E340F9FE-63CF-5DC1-BB85-0501F5A6B451}" dt="2026-03-10T09:43:10.417" v="2586" actId="20577"/>
          <ac:spMkLst>
            <pc:docMk/>
            <pc:sldMk cId="4191210072" sldId="333"/>
            <ac:spMk id="3" creationId="{3299C1E5-C214-D48B-72FD-890B98593842}"/>
          </ac:spMkLst>
        </pc:spChg>
        <pc:spChg chg="del">
          <ac:chgData name="Finley Griffin" userId="22b0b6c4-ce40-4dd6-a0c2-f0f65dd91442" providerId="ADAL" clId="{E340F9FE-63CF-5DC1-BB85-0501F5A6B451}" dt="2026-03-10T09:42:12.020" v="2444" actId="478"/>
          <ac:spMkLst>
            <pc:docMk/>
            <pc:sldMk cId="4191210072" sldId="333"/>
            <ac:spMk id="4" creationId="{436D8CB5-4A58-76D7-5890-A01B56518F1F}"/>
          </ac:spMkLst>
        </pc:spChg>
        <pc:picChg chg="add mod">
          <ac:chgData name="Finley Griffin" userId="22b0b6c4-ce40-4dd6-a0c2-f0f65dd91442" providerId="ADAL" clId="{E340F9FE-63CF-5DC1-BB85-0501F5A6B451}" dt="2026-03-10T09:43:38.256" v="2594" actId="1076"/>
          <ac:picMkLst>
            <pc:docMk/>
            <pc:sldMk cId="4191210072" sldId="333"/>
            <ac:picMk id="5" creationId="{87871792-B3FC-815F-FFEE-2E61E7225FE3}"/>
          </ac:picMkLst>
        </pc:picChg>
      </pc:sldChg>
      <pc:sldChg chg="new del">
        <pc:chgData name="Finley Griffin" userId="22b0b6c4-ce40-4dd6-a0c2-f0f65dd91442" providerId="ADAL" clId="{E340F9FE-63CF-5DC1-BB85-0501F5A6B451}" dt="2026-03-10T20:34:02.021" v="2801" actId="2696"/>
        <pc:sldMkLst>
          <pc:docMk/>
          <pc:sldMk cId="1102471387" sldId="334"/>
        </pc:sldMkLst>
      </pc:sldChg>
      <pc:sldChg chg="addSp delSp modSp new mod">
        <pc:chgData name="Finley Griffin" userId="22b0b6c4-ce40-4dd6-a0c2-f0f65dd91442" providerId="ADAL" clId="{E340F9FE-63CF-5DC1-BB85-0501F5A6B451}" dt="2026-03-10T20:41:57.367" v="4020" actId="20577"/>
        <pc:sldMkLst>
          <pc:docMk/>
          <pc:sldMk cId="3144730863" sldId="334"/>
        </pc:sldMkLst>
        <pc:spChg chg="mod">
          <ac:chgData name="Finley Griffin" userId="22b0b6c4-ce40-4dd6-a0c2-f0f65dd91442" providerId="ADAL" clId="{E340F9FE-63CF-5DC1-BB85-0501F5A6B451}" dt="2026-03-10T20:35:53.187" v="2845" actId="20577"/>
          <ac:spMkLst>
            <pc:docMk/>
            <pc:sldMk cId="3144730863" sldId="334"/>
            <ac:spMk id="2" creationId="{689D1987-09AD-2DED-83D4-877DB38B91EC}"/>
          </ac:spMkLst>
        </pc:spChg>
        <pc:spChg chg="del">
          <ac:chgData name="Finley Griffin" userId="22b0b6c4-ce40-4dd6-a0c2-f0f65dd91442" providerId="ADAL" clId="{E340F9FE-63CF-5DC1-BB85-0501F5A6B451}" dt="2026-03-10T20:36:22.082" v="2850" actId="478"/>
          <ac:spMkLst>
            <pc:docMk/>
            <pc:sldMk cId="3144730863" sldId="334"/>
            <ac:spMk id="3" creationId="{DA2FADC3-D0D2-1769-14FB-3DA771913E51}"/>
          </ac:spMkLst>
        </pc:spChg>
        <pc:spChg chg="add del mod">
          <ac:chgData name="Finley Griffin" userId="22b0b6c4-ce40-4dd6-a0c2-f0f65dd91442" providerId="ADAL" clId="{E340F9FE-63CF-5DC1-BB85-0501F5A6B451}" dt="2026-03-10T20:41:57.367" v="4020" actId="20577"/>
          <ac:spMkLst>
            <pc:docMk/>
            <pc:sldMk cId="3144730863" sldId="334"/>
            <ac:spMk id="4" creationId="{7FCF7B5F-2B54-7260-D77D-E80881452997}"/>
          </ac:spMkLst>
        </pc:spChg>
        <pc:spChg chg="add mod">
          <ac:chgData name="Finley Griffin" userId="22b0b6c4-ce40-4dd6-a0c2-f0f65dd91442" providerId="ADAL" clId="{E340F9FE-63CF-5DC1-BB85-0501F5A6B451}" dt="2026-03-10T20:36:15.259" v="2849"/>
          <ac:spMkLst>
            <pc:docMk/>
            <pc:sldMk cId="3144730863" sldId="334"/>
            <ac:spMk id="5" creationId="{DF887E61-E8EE-85F1-9488-CF0022F08422}"/>
          </ac:spMkLst>
        </pc:spChg>
      </pc:sldChg>
      <pc:sldChg chg="add del">
        <pc:chgData name="Finley Griffin" userId="22b0b6c4-ce40-4dd6-a0c2-f0f65dd91442" providerId="ADAL" clId="{E340F9FE-63CF-5DC1-BB85-0501F5A6B451}" dt="2026-03-10T20:35:55.680" v="2847" actId="2696"/>
        <pc:sldMkLst>
          <pc:docMk/>
          <pc:sldMk cId="1329106886" sldId="335"/>
        </pc:sldMkLst>
      </pc:sldChg>
      <pc:sldChg chg="add del">
        <pc:chgData name="Finley Griffin" userId="22b0b6c4-ce40-4dd6-a0c2-f0f65dd91442" providerId="ADAL" clId="{E340F9FE-63CF-5DC1-BB85-0501F5A6B451}" dt="2026-03-10T20:34:53.993" v="2804" actId="2696"/>
        <pc:sldMkLst>
          <pc:docMk/>
          <pc:sldMk cId="2512612668" sldId="3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2E790-179D-BA4F-AA34-44105FAF543E}"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F9C5A9-A64B-154A-BE70-E2C3B81DAB18}" type="slidenum">
              <a:rPr lang="en-US" smtClean="0"/>
              <a:t>‹#›</a:t>
            </a:fld>
            <a:endParaRPr lang="en-US"/>
          </a:p>
        </p:txBody>
      </p:sp>
    </p:spTree>
    <p:extLst>
      <p:ext uri="{BB962C8B-B14F-4D97-AF65-F5344CB8AC3E}">
        <p14:creationId xmlns:p14="http://schemas.microsoft.com/office/powerpoint/2010/main" val="3997931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Fin I'm an MLE and I will be running the workshop today. </a:t>
            </a:r>
          </a:p>
          <a:p>
            <a:endParaRPr lang="en-US" dirty="0"/>
          </a:p>
          <a:p>
            <a:r>
              <a:rPr lang="en-US" dirty="0"/>
              <a:t>Ryan and Radzim to offer technical support</a:t>
            </a:r>
          </a:p>
          <a:p>
            <a:endParaRPr lang="en-US" dirty="0"/>
          </a:p>
          <a:p>
            <a:r>
              <a:rPr lang="en-US" dirty="0"/>
              <a:t>Will talk more about our group shortly</a:t>
            </a:r>
          </a:p>
        </p:txBody>
      </p:sp>
      <p:sp>
        <p:nvSpPr>
          <p:cNvPr id="4" name="Slide Number Placeholder 3"/>
          <p:cNvSpPr>
            <a:spLocks noGrp="1"/>
          </p:cNvSpPr>
          <p:nvPr>
            <p:ph type="sldNum" sz="quarter" idx="5"/>
          </p:nvPr>
        </p:nvSpPr>
        <p:spPr/>
        <p:txBody>
          <a:bodyPr/>
          <a:lstStyle/>
          <a:p>
            <a:fld id="{6184AF57-4BD4-7D48-A093-6530DDD8C062}" type="slidenum">
              <a:rPr lang="en-US" smtClean="0"/>
              <a:t>1</a:t>
            </a:fld>
            <a:endParaRPr lang="en-US"/>
          </a:p>
        </p:txBody>
      </p:sp>
    </p:spTree>
    <p:extLst>
      <p:ext uri="{BB962C8B-B14F-4D97-AF65-F5344CB8AC3E}">
        <p14:creationId xmlns:p14="http://schemas.microsoft.com/office/powerpoint/2010/main" val="1705072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F9C5A9-A64B-154A-BE70-E2C3B81DAB18}" type="slidenum">
              <a:rPr lang="en-US" smtClean="0"/>
              <a:t>2</a:t>
            </a:fld>
            <a:endParaRPr lang="en-US"/>
          </a:p>
        </p:txBody>
      </p:sp>
    </p:spTree>
    <p:extLst>
      <p:ext uri="{BB962C8B-B14F-4D97-AF65-F5344CB8AC3E}">
        <p14:creationId xmlns:p14="http://schemas.microsoft.com/office/powerpoint/2010/main" val="314257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be talking about packaging and publishing python code! </a:t>
            </a:r>
          </a:p>
          <a:p>
            <a:endParaRPr lang="en-US" dirty="0"/>
          </a:p>
          <a:p>
            <a:endParaRPr lang="en-US" dirty="0"/>
          </a:p>
          <a:p>
            <a:r>
              <a:rPr lang="en-US" dirty="0"/>
              <a:t>In doing so we will be covering things along the way that make this process as streamlined as possible - software best practices.</a:t>
            </a:r>
          </a:p>
          <a:p>
            <a:endParaRPr lang="en-US" dirty="0"/>
          </a:p>
          <a:p>
            <a:r>
              <a:rPr lang="en-US" dirty="0"/>
              <a:t>Hopefully, over the course of this workshop I can convince you that some of these things are worth paying attention to.</a:t>
            </a:r>
          </a:p>
          <a:p>
            <a:endParaRPr lang="en-US" dirty="0"/>
          </a:p>
          <a:p>
            <a:r>
              <a:rPr lang="en-US" dirty="0"/>
              <a:t>Something that we see regularly is Python. </a:t>
            </a:r>
          </a:p>
          <a:p>
            <a:endParaRPr lang="en-US" dirty="0"/>
          </a:p>
          <a:p>
            <a:r>
              <a:rPr lang="en-US" dirty="0"/>
              <a:t>It is ubiquitous in research. </a:t>
            </a:r>
          </a:p>
          <a:p>
            <a:endParaRPr lang="en-US" dirty="0"/>
          </a:p>
          <a:p>
            <a:r>
              <a:rPr lang="en-US" dirty="0"/>
              <a:t>Reasons: adoption in ML and simplicity, but also statistical / scientific computing packages like </a:t>
            </a:r>
            <a:r>
              <a:rPr lang="en-US" dirty="0" err="1"/>
              <a:t>numpy</a:t>
            </a:r>
            <a:r>
              <a:rPr lang="en-US" dirty="0"/>
              <a:t> or </a:t>
            </a:r>
            <a:r>
              <a:rPr lang="en-US" dirty="0" err="1"/>
              <a:t>simpy</a:t>
            </a:r>
            <a:endParaRPr lang="en-US" dirty="0"/>
          </a:p>
        </p:txBody>
      </p:sp>
      <p:sp>
        <p:nvSpPr>
          <p:cNvPr id="4" name="Slide Number Placeholder 3"/>
          <p:cNvSpPr>
            <a:spLocks noGrp="1"/>
          </p:cNvSpPr>
          <p:nvPr>
            <p:ph type="sldNum" sz="quarter" idx="5"/>
          </p:nvPr>
        </p:nvSpPr>
        <p:spPr/>
        <p:txBody>
          <a:bodyPr/>
          <a:lstStyle/>
          <a:p>
            <a:fld id="{405232F6-B76B-E748-9DF9-431B1E2F1F8C}" type="slidenum">
              <a:rPr lang="en-US" smtClean="0"/>
              <a:t>3</a:t>
            </a:fld>
            <a:endParaRPr lang="en-US"/>
          </a:p>
        </p:txBody>
      </p:sp>
    </p:spTree>
    <p:extLst>
      <p:ext uri="{BB962C8B-B14F-4D97-AF65-F5344CB8AC3E}">
        <p14:creationId xmlns:p14="http://schemas.microsoft.com/office/powerpoint/2010/main" val="1065049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Software Foundation ran a survey on packaging – so this is the process of turning your code into a distributable package that other people can use easily with the same tools. And the results really speak for themselves:</a:t>
            </a:r>
          </a:p>
          <a:p>
            <a:endParaRPr lang="en-US" dirty="0"/>
          </a:p>
          <a:p>
            <a:endParaRPr lang="en-US" dirty="0"/>
          </a:p>
          <a:p>
            <a:endParaRPr lang="en-US" dirty="0"/>
          </a:p>
          <a:p>
            <a:r>
              <a:rPr lang="en-US" dirty="0"/>
              <a:t>Over 8,000 people responded, and this is the general distribution of users, so just under 30% using the tools between 4-6 years. Now usually, you might have a year or more of experience using python before you really start to play around with some of the packaging tools that are available out there.</a:t>
            </a:r>
          </a:p>
        </p:txBody>
      </p:sp>
      <p:sp>
        <p:nvSpPr>
          <p:cNvPr id="4" name="Slide Number Placeholder 3"/>
          <p:cNvSpPr>
            <a:spLocks noGrp="1"/>
          </p:cNvSpPr>
          <p:nvPr>
            <p:ph type="sldNum" sz="quarter" idx="5"/>
          </p:nvPr>
        </p:nvSpPr>
        <p:spPr/>
        <p:txBody>
          <a:bodyPr/>
          <a:lstStyle/>
          <a:p>
            <a:fld id="{405232F6-B76B-E748-9DF9-431B1E2F1F8C}" type="slidenum">
              <a:rPr lang="en-US" smtClean="0"/>
              <a:t>4</a:t>
            </a:fld>
            <a:endParaRPr lang="en-US"/>
          </a:p>
        </p:txBody>
      </p:sp>
    </p:spTree>
    <p:extLst>
      <p:ext uri="{BB962C8B-B14F-4D97-AF65-F5344CB8AC3E}">
        <p14:creationId xmlns:p14="http://schemas.microsoft.com/office/powerpoint/2010/main" val="1060682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packaging tools are actually available? Many of these you might recognize:</a:t>
            </a:r>
          </a:p>
          <a:p>
            <a:endParaRPr lang="en-US" dirty="0"/>
          </a:p>
          <a:p>
            <a:pPr marL="171450" indent="-171450">
              <a:buFontTx/>
              <a:buChar char="-"/>
            </a:pPr>
            <a:r>
              <a:rPr lang="en-US" dirty="0"/>
              <a:t>Pip and </a:t>
            </a:r>
            <a:r>
              <a:rPr lang="en-US" dirty="0" err="1"/>
              <a:t>Conda</a:t>
            </a:r>
            <a:r>
              <a:rPr lang="en-US" dirty="0"/>
              <a:t> are probably two of the most recognizable up there. Everyone is introduced to pip when they first start learning Python, and then most people are using python in the context of scientific programming, so the natural step is into </a:t>
            </a:r>
            <a:r>
              <a:rPr lang="en-US" dirty="0" err="1"/>
              <a:t>conda</a:t>
            </a:r>
            <a:r>
              <a:rPr lang="en-US" dirty="0"/>
              <a:t>.</a:t>
            </a:r>
          </a:p>
          <a:p>
            <a:pPr marL="171450" indent="-171450">
              <a:buFontTx/>
              <a:buChar char="-"/>
            </a:pPr>
            <a:endParaRPr lang="en-US" dirty="0"/>
          </a:p>
          <a:p>
            <a:pPr marL="171450" indent="-171450">
              <a:buFontTx/>
              <a:buChar char="-"/>
            </a:pPr>
            <a:r>
              <a:rPr lang="en-US" dirty="0"/>
              <a:t>Then further down the list of recognizability, we have wheels and </a:t>
            </a:r>
            <a:r>
              <a:rPr lang="en-US" dirty="0" err="1"/>
              <a:t>PyPI</a:t>
            </a:r>
            <a:r>
              <a:rPr lang="en-US" dirty="0"/>
              <a:t>. You always see that notification in the terminal of building wheels, and then </a:t>
            </a:r>
            <a:r>
              <a:rPr lang="en-US" dirty="0" err="1"/>
              <a:t>PyPI</a:t>
            </a:r>
            <a:r>
              <a:rPr lang="en-US" dirty="0"/>
              <a:t> is the main repository where these wheels are housed for pip.</a:t>
            </a:r>
          </a:p>
          <a:p>
            <a:pPr marL="171450" indent="-171450">
              <a:buFontTx/>
              <a:buChar char="-"/>
            </a:pPr>
            <a:endParaRPr lang="en-US" dirty="0"/>
          </a:p>
          <a:p>
            <a:pPr marL="171450" indent="-171450">
              <a:buFontTx/>
              <a:buChar char="-"/>
            </a:pPr>
            <a:endParaRPr lang="en-US" dirty="0"/>
          </a:p>
          <a:p>
            <a:pPr marL="171450" indent="-171450">
              <a:buFontTx/>
              <a:buChar char="-"/>
            </a:pPr>
            <a:r>
              <a:rPr lang="en-US" dirty="0"/>
              <a:t>If you don’t use </a:t>
            </a:r>
            <a:r>
              <a:rPr lang="en-US" dirty="0" err="1"/>
              <a:t>conda</a:t>
            </a:r>
            <a:r>
              <a:rPr lang="en-US" dirty="0"/>
              <a:t>, then you probably use </a:t>
            </a:r>
            <a:r>
              <a:rPr lang="en-US" dirty="0" err="1"/>
              <a:t>venv</a:t>
            </a:r>
            <a:r>
              <a:rPr lang="en-US" dirty="0"/>
              <a:t> – this comes standard with python, very capable virtual environment tool.</a:t>
            </a:r>
          </a:p>
          <a:p>
            <a:pPr marL="171450" indent="-171450">
              <a:buFontTx/>
              <a:buChar char="-"/>
            </a:pPr>
            <a:endParaRPr lang="en-US" dirty="0"/>
          </a:p>
          <a:p>
            <a:pPr marL="171450" indent="-171450">
              <a:buFontTx/>
              <a:buChar char="-"/>
            </a:pPr>
            <a:endParaRPr lang="en-US" dirty="0"/>
          </a:p>
          <a:p>
            <a:pPr marL="171450" indent="-171450">
              <a:buFontTx/>
              <a:buChar char="-"/>
            </a:pPr>
            <a:r>
              <a:rPr lang="en-US" dirty="0"/>
              <a:t>There are also some lesser known ones</a:t>
            </a:r>
          </a:p>
        </p:txBody>
      </p:sp>
      <p:sp>
        <p:nvSpPr>
          <p:cNvPr id="4" name="Slide Number Placeholder 3"/>
          <p:cNvSpPr>
            <a:spLocks noGrp="1"/>
          </p:cNvSpPr>
          <p:nvPr>
            <p:ph type="sldNum" sz="quarter" idx="5"/>
          </p:nvPr>
        </p:nvSpPr>
        <p:spPr/>
        <p:txBody>
          <a:bodyPr/>
          <a:lstStyle/>
          <a:p>
            <a:fld id="{405232F6-B76B-E748-9DF9-431B1E2F1F8C}" type="slidenum">
              <a:rPr lang="en-US" smtClean="0"/>
              <a:t>5</a:t>
            </a:fld>
            <a:endParaRPr lang="en-US"/>
          </a:p>
        </p:txBody>
      </p:sp>
    </p:spTree>
    <p:extLst>
      <p:ext uri="{BB962C8B-B14F-4D97-AF65-F5344CB8AC3E}">
        <p14:creationId xmlns:p14="http://schemas.microsoft.com/office/powerpoint/2010/main" val="2149997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packaging “Just works”. I am actually quite surprised that 43% of people agreed or strongly agreed with this. But still, 38% don’t.</a:t>
            </a:r>
          </a:p>
          <a:p>
            <a:endParaRPr lang="en-US" dirty="0"/>
          </a:p>
          <a:p>
            <a:r>
              <a:rPr lang="en-US" dirty="0"/>
              <a:t>Python packaging is too complex – 50% agree, and 26% do not agree</a:t>
            </a:r>
          </a:p>
          <a:p>
            <a:endParaRPr lang="en-US" dirty="0"/>
          </a:p>
          <a:p>
            <a:endParaRPr lang="en-US" dirty="0"/>
          </a:p>
          <a:p>
            <a:r>
              <a:rPr lang="en-US" dirty="0"/>
              <a:t>Perhaps most importantly, most people think that having all of these tools is NOT beneficial for the Python ecosystem, and most people would prefer to just have the one tool.</a:t>
            </a:r>
          </a:p>
        </p:txBody>
      </p:sp>
      <p:sp>
        <p:nvSpPr>
          <p:cNvPr id="4" name="Slide Number Placeholder 3"/>
          <p:cNvSpPr>
            <a:spLocks noGrp="1"/>
          </p:cNvSpPr>
          <p:nvPr>
            <p:ph type="sldNum" sz="quarter" idx="5"/>
          </p:nvPr>
        </p:nvSpPr>
        <p:spPr/>
        <p:txBody>
          <a:bodyPr/>
          <a:lstStyle/>
          <a:p>
            <a:fld id="{405232F6-B76B-E748-9DF9-431B1E2F1F8C}" type="slidenum">
              <a:rPr lang="en-US" smtClean="0"/>
              <a:t>6</a:t>
            </a:fld>
            <a:endParaRPr lang="en-US"/>
          </a:p>
        </p:txBody>
      </p:sp>
    </p:spTree>
    <p:extLst>
      <p:ext uri="{BB962C8B-B14F-4D97-AF65-F5344CB8AC3E}">
        <p14:creationId xmlns:p14="http://schemas.microsoft.com/office/powerpoint/2010/main" val="2731434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overwhelming amount of people would like to have an “official” workflow. Of course. All of those different tools we had.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modern languages like Go and Rust, you have all of this tooling integrated into the rest of the toolchain. You don’t need a bunch of 3rd party tools.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also importantly, packaging is improving with time. And in this session, we’re actually going to talk about some of the current methods and techniques to help you with packaging software.</a:t>
            </a:r>
          </a:p>
        </p:txBody>
      </p:sp>
      <p:sp>
        <p:nvSpPr>
          <p:cNvPr id="4" name="Slide Number Placeholder 3"/>
          <p:cNvSpPr>
            <a:spLocks noGrp="1"/>
          </p:cNvSpPr>
          <p:nvPr>
            <p:ph type="sldNum" sz="quarter" idx="5"/>
          </p:nvPr>
        </p:nvSpPr>
        <p:spPr/>
        <p:txBody>
          <a:bodyPr/>
          <a:lstStyle/>
          <a:p>
            <a:fld id="{405232F6-B76B-E748-9DF9-431B1E2F1F8C}" type="slidenum">
              <a:rPr lang="en-US" smtClean="0"/>
              <a:t>7</a:t>
            </a:fld>
            <a:endParaRPr lang="en-US"/>
          </a:p>
        </p:txBody>
      </p:sp>
    </p:spTree>
    <p:extLst>
      <p:ext uri="{BB962C8B-B14F-4D97-AF65-F5344CB8AC3E}">
        <p14:creationId xmlns:p14="http://schemas.microsoft.com/office/powerpoint/2010/main" val="106198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of taking your untitled_notebook_17.ipynb, and navigating this hellscape to produce something decent can stressful, and the first few times, you usually make some mistakes and you just leave them, oh it’s OK, whatever. So here we stand, with our intrepid cat, ready to brave this vast landscape together. </a:t>
            </a:r>
          </a:p>
          <a:p>
            <a:endParaRPr lang="en-US" dirty="0"/>
          </a:p>
          <a:p>
            <a:r>
              <a:rPr lang="en-US" dirty="0"/>
              <a:t>And many of the techniques that we talk about also apply to deploying production-level software. There this idea, that now you’ve developed the model you need to deploy it to production. What the hell does that even mean? Develop the model, deploy the model.</a:t>
            </a:r>
          </a:p>
        </p:txBody>
      </p:sp>
      <p:sp>
        <p:nvSpPr>
          <p:cNvPr id="4" name="Slide Number Placeholder 3"/>
          <p:cNvSpPr>
            <a:spLocks noGrp="1"/>
          </p:cNvSpPr>
          <p:nvPr>
            <p:ph type="sldNum" sz="quarter" idx="5"/>
          </p:nvPr>
        </p:nvSpPr>
        <p:spPr/>
        <p:txBody>
          <a:bodyPr/>
          <a:lstStyle/>
          <a:p>
            <a:fld id="{405232F6-B76B-E748-9DF9-431B1E2F1F8C}" type="slidenum">
              <a:rPr lang="en-US" smtClean="0"/>
              <a:t>8</a:t>
            </a:fld>
            <a:endParaRPr lang="en-US"/>
          </a:p>
        </p:txBody>
      </p:sp>
    </p:spTree>
    <p:extLst>
      <p:ext uri="{BB962C8B-B14F-4D97-AF65-F5344CB8AC3E}">
        <p14:creationId xmlns:p14="http://schemas.microsoft.com/office/powerpoint/2010/main" val="665958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Just before we get started, I would just like to give a brief overview of the Accelerate program.</a:t>
            </a:r>
          </a:p>
          <a:p>
            <a:endParaRPr lang="en-US" dirty="0"/>
          </a:p>
          <a:p>
            <a:r>
              <a:rPr lang="en-US" dirty="0"/>
              <a:t>We are a group composed of researchers, machine learning engineers and </a:t>
            </a:r>
            <a:r>
              <a:rPr lang="en-US" dirty="0" err="1"/>
              <a:t>programme</a:t>
            </a:r>
            <a:r>
              <a:rPr lang="en-US"/>
              <a:t> staff</a:t>
            </a:r>
            <a:r>
              <a:rPr lang="en-US" dirty="0"/>
              <a:t>.</a:t>
            </a:r>
          </a:p>
          <a:p>
            <a:endParaRPr lang="en-US" dirty="0"/>
          </a:p>
          <a:p>
            <a:r>
              <a:rPr lang="en-US" dirty="0"/>
              <a:t>Our overarching goal is to support the adoption of AI in research at the university. </a:t>
            </a:r>
          </a:p>
          <a:p>
            <a:endParaRPr lang="en-US" dirty="0"/>
          </a:p>
          <a:p>
            <a:r>
              <a:rPr lang="en-US" dirty="0"/>
              <a:t>We do this through activities such as</a:t>
            </a:r>
          </a:p>
          <a:p>
            <a:endParaRPr lang="en-US" dirty="0"/>
          </a:p>
          <a:p>
            <a:r>
              <a:rPr lang="en-US" dirty="0"/>
              <a:t>Workshops (see in a second), AI Clinic, sections of university-wide workshops / events that are supported by us</a:t>
            </a:r>
          </a:p>
          <a:p>
            <a:endParaRPr lang="en-US" dirty="0"/>
          </a:p>
          <a:p>
            <a:r>
              <a:rPr lang="en-US" dirty="0"/>
              <a:t>But also longer-term involvement on research projects in a research engineering capacity.</a:t>
            </a:r>
          </a:p>
          <a:p>
            <a:endParaRPr lang="en-US" dirty="0"/>
          </a:p>
          <a:p>
            <a:r>
              <a:rPr lang="en-US" dirty="0"/>
              <a:t>Not just intersection of AI and Science!</a:t>
            </a:r>
          </a:p>
          <a:p>
            <a:endParaRPr lang="en-US" dirty="0"/>
          </a:p>
          <a:p>
            <a:r>
              <a:rPr lang="en-US" dirty="0"/>
              <a:t>We’re finding more and more that researchers from the Humanities want to utilize machine learning methods, and we’re having to reassess what we think of as traditional science.</a:t>
            </a:r>
          </a:p>
        </p:txBody>
      </p:sp>
      <p:sp>
        <p:nvSpPr>
          <p:cNvPr id="4" name="Slide Number Placeholder 3"/>
          <p:cNvSpPr>
            <a:spLocks noGrp="1"/>
          </p:cNvSpPr>
          <p:nvPr>
            <p:ph type="sldNum" sz="quarter" idx="5"/>
          </p:nvPr>
        </p:nvSpPr>
        <p:spPr/>
        <p:txBody>
          <a:bodyPr/>
          <a:lstStyle/>
          <a:p>
            <a:fld id="{6184AF57-4BD4-7D48-A093-6530DDD8C062}" type="slidenum">
              <a:rPr lang="en-US" smtClean="0"/>
              <a:t>9</a:t>
            </a:fld>
            <a:endParaRPr lang="en-US"/>
          </a:p>
        </p:txBody>
      </p:sp>
    </p:spTree>
    <p:extLst>
      <p:ext uri="{BB962C8B-B14F-4D97-AF65-F5344CB8AC3E}">
        <p14:creationId xmlns:p14="http://schemas.microsoft.com/office/powerpoint/2010/main" val="322132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ultimately here to facilitate this process of integrating AI into research.</a:t>
            </a:r>
          </a:p>
          <a:p>
            <a:endParaRPr lang="en-US" dirty="0"/>
          </a:p>
          <a:p>
            <a:r>
              <a:rPr lang="en-US" dirty="0"/>
              <a:t>We run a couple of workshops at the moment: an introduction to large language models, a hands on LLMs, an intro to generative AI with diffusion models, docker, a packaging and publishing workshop, and now a new agents 4 science workshop</a:t>
            </a:r>
          </a:p>
        </p:txBody>
      </p:sp>
      <p:sp>
        <p:nvSpPr>
          <p:cNvPr id="4" name="Slide Number Placeholder 3"/>
          <p:cNvSpPr>
            <a:spLocks noGrp="1"/>
          </p:cNvSpPr>
          <p:nvPr>
            <p:ph type="sldNum" sz="quarter" idx="5"/>
          </p:nvPr>
        </p:nvSpPr>
        <p:spPr/>
        <p:txBody>
          <a:bodyPr/>
          <a:lstStyle/>
          <a:p>
            <a:fld id="{6184AF57-4BD4-7D48-A093-6530DDD8C062}" type="slidenum">
              <a:rPr lang="en-US" smtClean="0"/>
              <a:t>10</a:t>
            </a:fld>
            <a:endParaRPr lang="en-US"/>
          </a:p>
        </p:txBody>
      </p:sp>
    </p:spTree>
    <p:extLst>
      <p:ext uri="{BB962C8B-B14F-4D97-AF65-F5344CB8AC3E}">
        <p14:creationId xmlns:p14="http://schemas.microsoft.com/office/powerpoint/2010/main" val="2429773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provide material that people can work through in their own time, but also in the context of a full day workshop event, with instructors there to help.</a:t>
            </a:r>
          </a:p>
          <a:p>
            <a:endParaRPr lang="en-GB" dirty="0"/>
          </a:p>
          <a:p>
            <a:endParaRPr lang="en-US" dirty="0"/>
          </a:p>
          <a:p>
            <a:endParaRPr lang="en-US" dirty="0"/>
          </a:p>
        </p:txBody>
      </p:sp>
      <p:sp>
        <p:nvSpPr>
          <p:cNvPr id="4" name="Slide Number Placeholder 3"/>
          <p:cNvSpPr>
            <a:spLocks noGrp="1"/>
          </p:cNvSpPr>
          <p:nvPr>
            <p:ph type="sldNum" sz="quarter" idx="5"/>
          </p:nvPr>
        </p:nvSpPr>
        <p:spPr/>
        <p:txBody>
          <a:bodyPr/>
          <a:lstStyle/>
          <a:p>
            <a:fld id="{6184AF57-4BD4-7D48-A093-6530DDD8C062}" type="slidenum">
              <a:rPr lang="en-US" smtClean="0"/>
              <a:t>11</a:t>
            </a:fld>
            <a:endParaRPr lang="en-US"/>
          </a:p>
        </p:txBody>
      </p:sp>
    </p:spTree>
    <p:extLst>
      <p:ext uri="{BB962C8B-B14F-4D97-AF65-F5344CB8AC3E}">
        <p14:creationId xmlns:p14="http://schemas.microsoft.com/office/powerpoint/2010/main" val="2144170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I just want to measure the temperature of the room:</a:t>
            </a:r>
          </a:p>
          <a:p>
            <a:endParaRPr lang="en-US" dirty="0"/>
          </a:p>
          <a:p>
            <a:r>
              <a:rPr lang="en-US" dirty="0"/>
              <a:t>How many of you have a beginner or above level of experience with version control? And by above beginner, I mean, you can initialize your own git repos locally, you can commit, you can push, you can start new </a:t>
            </a:r>
            <a:r>
              <a:rPr lang="en-US" dirty="0" err="1"/>
              <a:t>github</a:t>
            </a:r>
            <a:r>
              <a:rPr lang="en-US" dirty="0"/>
              <a:t> repos.</a:t>
            </a:r>
          </a:p>
          <a:p>
            <a:endParaRPr lang="en-US" dirty="0"/>
          </a:p>
          <a:p>
            <a:r>
              <a:rPr lang="en-US" dirty="0"/>
              <a:t>OK and intermediate and above: you can handle working on multiple branches, submit and merge pull requests, familiar with things like .</a:t>
            </a:r>
            <a:r>
              <a:rPr lang="en-US" dirty="0" err="1"/>
              <a:t>gitignore</a:t>
            </a:r>
            <a:r>
              <a:rPr lang="en-US" dirty="0"/>
              <a:t>, licensing.</a:t>
            </a:r>
          </a:p>
          <a:p>
            <a:endParaRPr lang="en-US" dirty="0"/>
          </a:p>
          <a:p>
            <a:r>
              <a:rPr lang="en-US" dirty="0"/>
              <a:t>OK, and advanced: familiar with </a:t>
            </a:r>
            <a:r>
              <a:rPr lang="en-US" dirty="0" err="1"/>
              <a:t>github</a:t>
            </a:r>
            <a:r>
              <a:rPr lang="en-US" dirty="0"/>
              <a:t> actions, </a:t>
            </a:r>
            <a:r>
              <a:rPr lang="en-US" dirty="0" err="1"/>
              <a:t>precommit</a:t>
            </a:r>
            <a:r>
              <a:rPr lang="en-US" dirty="0"/>
              <a:t> checks, continuous development and integration.</a:t>
            </a:r>
          </a:p>
          <a:p>
            <a:endParaRPr lang="en-US" dirty="0"/>
          </a:p>
          <a:p>
            <a:r>
              <a:rPr lang="en-US" dirty="0"/>
              <a:t>And who has published python code to either </a:t>
            </a:r>
            <a:r>
              <a:rPr lang="en-US" dirty="0" err="1"/>
              <a:t>github</a:t>
            </a:r>
            <a:r>
              <a:rPr lang="en-US" dirty="0"/>
              <a:t> releases or to </a:t>
            </a:r>
            <a:r>
              <a:rPr lang="en-US" dirty="0" err="1"/>
              <a:t>PyPi</a:t>
            </a:r>
            <a:r>
              <a:rPr lang="en-US" dirty="0"/>
              <a:t>?</a:t>
            </a:r>
          </a:p>
          <a:p>
            <a:endParaRPr lang="en-US" dirty="0"/>
          </a:p>
          <a:p>
            <a:r>
              <a:rPr lang="en-US" dirty="0"/>
              <a:t>Who primarily works with </a:t>
            </a:r>
            <a:r>
              <a:rPr lang="en-US" dirty="0" err="1"/>
              <a:t>Jupyter</a:t>
            </a:r>
            <a:r>
              <a:rPr lang="en-US" dirty="0"/>
              <a:t> notebooks? </a:t>
            </a:r>
            <a:r>
              <a:rPr lang="en-US" dirty="0" err="1"/>
              <a:t>VSCode</a:t>
            </a:r>
            <a:r>
              <a:rPr lang="en-US" dirty="0"/>
              <a:t>? PyCharm? Cursor? Vim?</a:t>
            </a:r>
          </a:p>
          <a:p>
            <a:endParaRPr lang="en-US" dirty="0"/>
          </a:p>
          <a:p>
            <a:r>
              <a:rPr lang="en-US" dirty="0"/>
              <a:t>We're </a:t>
            </a:r>
            <a:r>
              <a:rPr lang="en-US" dirty="0" err="1"/>
              <a:t>gonna</a:t>
            </a:r>
            <a:r>
              <a:rPr lang="en-US" dirty="0"/>
              <a:t> be using </a:t>
            </a:r>
            <a:r>
              <a:rPr lang="en-US" dirty="0" err="1"/>
              <a:t>VSCode</a:t>
            </a:r>
            <a:r>
              <a:rPr lang="en-US" dirty="0"/>
              <a:t> / </a:t>
            </a:r>
            <a:r>
              <a:rPr lang="en-US" dirty="0" err="1"/>
              <a:t>JupyterLab</a:t>
            </a:r>
            <a:r>
              <a:rPr lang="en-US" dirty="0"/>
              <a:t> today on our teaching platform</a:t>
            </a:r>
          </a:p>
        </p:txBody>
      </p:sp>
      <p:sp>
        <p:nvSpPr>
          <p:cNvPr id="4" name="Slide Number Placeholder 3"/>
          <p:cNvSpPr>
            <a:spLocks noGrp="1"/>
          </p:cNvSpPr>
          <p:nvPr>
            <p:ph type="sldNum" sz="quarter" idx="5"/>
          </p:nvPr>
        </p:nvSpPr>
        <p:spPr/>
        <p:txBody>
          <a:bodyPr/>
          <a:lstStyle/>
          <a:p>
            <a:fld id="{405232F6-B76B-E748-9DF9-431B1E2F1F8C}" type="slidenum">
              <a:rPr lang="en-US" smtClean="0"/>
              <a:t>12</a:t>
            </a:fld>
            <a:endParaRPr lang="en-US"/>
          </a:p>
        </p:txBody>
      </p:sp>
    </p:spTree>
    <p:extLst>
      <p:ext uri="{BB962C8B-B14F-4D97-AF65-F5344CB8AC3E}">
        <p14:creationId xmlns:p14="http://schemas.microsoft.com/office/powerpoint/2010/main" val="2896587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Hopefully, if you’re here, then you aren’t wondering why this is even important! But in case you are wondering….</a:t>
            </a:r>
          </a:p>
          <a:p>
            <a:endParaRPr lang="en-US" dirty="0"/>
          </a:p>
          <a:p>
            <a:r>
              <a:rPr lang="en-US" dirty="0"/>
              <a:t>Here are the UNESCO guidelines on responsible use of AI, but they can just as easily apply to any software.</a:t>
            </a:r>
          </a:p>
          <a:p>
            <a:endParaRPr lang="en-US" dirty="0"/>
          </a:p>
          <a:p>
            <a:r>
              <a:rPr lang="en-US" dirty="0"/>
              <a:t>Recommend weapons of math destruction by Cathy O'Neil</a:t>
            </a:r>
          </a:p>
          <a:p>
            <a:endParaRPr lang="en-US" dirty="0"/>
          </a:p>
          <a:p>
            <a:pPr marL="0" indent="0">
              <a:buFontTx/>
              <a:buNone/>
            </a:pPr>
            <a:r>
              <a:rPr lang="en-US" dirty="0"/>
              <a:t>How do we make software systems auditable and traceable?</a:t>
            </a:r>
          </a:p>
          <a:p>
            <a:pPr marL="0" indent="0">
              <a:buFontTx/>
              <a:buNone/>
            </a:pPr>
            <a:endParaRPr lang="en-US" dirty="0"/>
          </a:p>
          <a:p>
            <a:pPr marL="0" indent="0">
              <a:buFontTx/>
              <a:buNone/>
            </a:pPr>
            <a:r>
              <a:rPr lang="en-US" dirty="0"/>
              <a:t>How can we monitor security vulnerabilities? </a:t>
            </a:r>
          </a:p>
          <a:p>
            <a:pPr marL="0" indent="0">
              <a:buFontTx/>
              <a:buNone/>
            </a:pPr>
            <a:endParaRPr lang="en-US" dirty="0"/>
          </a:p>
          <a:p>
            <a:pPr marL="0" indent="0">
              <a:buFontTx/>
              <a:buNone/>
            </a:pPr>
            <a:r>
              <a:rPr lang="en-US" dirty="0"/>
              <a:t>How can we be transparent and make sure our systems are explainable and interpretable? </a:t>
            </a:r>
          </a:p>
          <a:p>
            <a:pPr marL="0" indent="0">
              <a:buFontTx/>
              <a:buNone/>
            </a:pPr>
            <a:endParaRPr lang="en-US" dirty="0"/>
          </a:p>
          <a:p>
            <a:pPr marL="0" indent="0">
              <a:buFontTx/>
              <a:buNone/>
            </a:pPr>
            <a:r>
              <a:rPr lang="en-US" dirty="0"/>
              <a:t>How can we ensure privacy.</a:t>
            </a:r>
          </a:p>
          <a:p>
            <a:pPr marL="0" indent="0">
              <a:buFontTx/>
              <a:buNone/>
            </a:pPr>
            <a:endParaRPr lang="en-US" dirty="0"/>
          </a:p>
          <a:p>
            <a:pPr marL="0" indent="0">
              <a:buFontTx/>
              <a:buNone/>
            </a:pPr>
            <a:r>
              <a:rPr lang="en-US" dirty="0"/>
              <a:t>Actually, the answers to some of these questions lies in proper software engineering practices.</a:t>
            </a:r>
          </a:p>
          <a:p>
            <a:pPr marL="171450" indent="-171450">
              <a:buFontTx/>
              <a:buChar char="-"/>
            </a:pPr>
            <a:r>
              <a:rPr lang="en-US" dirty="0"/>
              <a:t>We can make our code open source.</a:t>
            </a:r>
          </a:p>
          <a:p>
            <a:pPr marL="171450" indent="-171450">
              <a:buFontTx/>
              <a:buChar char="-"/>
            </a:pPr>
            <a:r>
              <a:rPr lang="en-US" dirty="0"/>
              <a:t>We can use version control, so all changes made by contributors can be tracked.</a:t>
            </a:r>
          </a:p>
          <a:p>
            <a:pPr marL="171450" indent="-171450">
              <a:buFontTx/>
              <a:buChar char="-"/>
            </a:pPr>
            <a:r>
              <a:rPr lang="en-US" dirty="0"/>
              <a:t>We can keep up to date with vulnerabilities via </a:t>
            </a:r>
            <a:r>
              <a:rPr lang="en-US" dirty="0" err="1"/>
              <a:t>Github</a:t>
            </a:r>
            <a:r>
              <a:rPr lang="en-US" dirty="0"/>
              <a:t>.</a:t>
            </a:r>
          </a:p>
          <a:p>
            <a:pPr marL="171450" indent="-171450">
              <a:buFontTx/>
              <a:buChar char="-"/>
            </a:pPr>
            <a:r>
              <a:rPr lang="en-US" dirty="0"/>
              <a:t>We can be aware of any third-party software, and what they are doing..</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6184AF57-4BD4-7D48-A093-6530DDD8C062}" type="slidenum">
              <a:rPr lang="en-US" smtClean="0"/>
              <a:t>14</a:t>
            </a:fld>
            <a:endParaRPr lang="en-US"/>
          </a:p>
        </p:txBody>
      </p:sp>
    </p:spTree>
    <p:extLst>
      <p:ext uri="{BB962C8B-B14F-4D97-AF65-F5344CB8AC3E}">
        <p14:creationId xmlns:p14="http://schemas.microsoft.com/office/powerpoint/2010/main" val="3619438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have the fair principles for RS.</a:t>
            </a:r>
          </a:p>
        </p:txBody>
      </p:sp>
      <p:sp>
        <p:nvSpPr>
          <p:cNvPr id="4" name="Slide Number Placeholder 3"/>
          <p:cNvSpPr>
            <a:spLocks noGrp="1"/>
          </p:cNvSpPr>
          <p:nvPr>
            <p:ph type="sldNum" sz="quarter" idx="5"/>
          </p:nvPr>
        </p:nvSpPr>
        <p:spPr/>
        <p:txBody>
          <a:bodyPr/>
          <a:lstStyle/>
          <a:p>
            <a:fld id="{6184AF57-4BD4-7D48-A093-6530DDD8C062}" type="slidenum">
              <a:rPr lang="en-US" smtClean="0"/>
              <a:t>15</a:t>
            </a:fld>
            <a:endParaRPr lang="en-US"/>
          </a:p>
        </p:txBody>
      </p:sp>
    </p:spTree>
    <p:extLst>
      <p:ext uri="{BB962C8B-B14F-4D97-AF65-F5344CB8AC3E}">
        <p14:creationId xmlns:p14="http://schemas.microsoft.com/office/powerpoint/2010/main" val="2397109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about more short-term lower scale effects of good SWE</a:t>
            </a:r>
            <a:br>
              <a:rPr lang="en-US" dirty="0"/>
            </a:br>
            <a:endParaRPr lang="en-US" dirty="0"/>
          </a:p>
          <a:p>
            <a:pPr marL="171450" indent="-171450">
              <a:buFontTx/>
              <a:buChar char="-"/>
            </a:pPr>
            <a:r>
              <a:rPr lang="en-US" dirty="0"/>
              <a:t>I wonder how many people in this room, have written a piece of code, and there is a part of it that they’re not quite sure how it’s working, but it does seem to be working. But how can you be sure that it’s working in the way you intend it to work?</a:t>
            </a:r>
          </a:p>
          <a:p>
            <a:pPr marL="171450" indent="-171450">
              <a:buFontTx/>
              <a:buChar char="-"/>
            </a:pPr>
            <a:endParaRPr lang="en-US" dirty="0"/>
          </a:p>
          <a:p>
            <a:pPr marL="171450" indent="-171450">
              <a:buFontTx/>
              <a:buChar char="-"/>
            </a:pPr>
            <a:r>
              <a:rPr lang="en-US" dirty="0"/>
              <a:t>Lessens the chance of retractions.</a:t>
            </a:r>
          </a:p>
          <a:p>
            <a:pPr marL="171450" indent="-171450">
              <a:buFontTx/>
              <a:buChar char="-"/>
            </a:pPr>
            <a:endParaRPr lang="en-US" dirty="0"/>
          </a:p>
          <a:p>
            <a:pPr marL="171450" indent="-171450">
              <a:buFontTx/>
              <a:buChar char="-"/>
            </a:pPr>
            <a:r>
              <a:rPr lang="en-US" dirty="0"/>
              <a:t>It gives us integrity. Your life is so much easier if you trust your own work, if you know that you’ve tugged at every thread.</a:t>
            </a:r>
          </a:p>
          <a:p>
            <a:pPr marL="171450" indent="-171450">
              <a:buFontTx/>
              <a:buChar cha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It allows others to reproduce and build on our work. This is another big deal. We should, given the same starting conditions, be able to reproduce the work of other scientists to within an acceptable degree of error. And in many case in computational work, that error should be essentially machine precision.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It helps onboarding with new students. Again huge deal. How much of the initial PhD is spent deciphering the code written on stone tablets.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All comes from the end goal : publishing</a:t>
            </a:r>
          </a:p>
        </p:txBody>
      </p:sp>
      <p:sp>
        <p:nvSpPr>
          <p:cNvPr id="4" name="Slide Number Placeholder 3"/>
          <p:cNvSpPr>
            <a:spLocks noGrp="1"/>
          </p:cNvSpPr>
          <p:nvPr>
            <p:ph type="sldNum" sz="quarter" idx="5"/>
          </p:nvPr>
        </p:nvSpPr>
        <p:spPr/>
        <p:txBody>
          <a:bodyPr/>
          <a:lstStyle/>
          <a:p>
            <a:fld id="{6184AF57-4BD4-7D48-A093-6530DDD8C062}" type="slidenum">
              <a:rPr lang="en-US" smtClean="0"/>
              <a:t>16</a:t>
            </a:fld>
            <a:endParaRPr lang="en-US"/>
          </a:p>
        </p:txBody>
      </p:sp>
    </p:spTree>
    <p:extLst>
      <p:ext uri="{BB962C8B-B14F-4D97-AF65-F5344CB8AC3E}">
        <p14:creationId xmlns:p14="http://schemas.microsoft.com/office/powerpoint/2010/main" val="2324131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it really mean to “publish” software?</a:t>
            </a:r>
          </a:p>
          <a:p>
            <a:endParaRPr lang="en-US" dirty="0"/>
          </a:p>
          <a:p>
            <a:r>
              <a:rPr lang="en-US" dirty="0"/>
              <a:t>When most people think of “publishing” code, it means to in some way make your source code available on a public platform, usually for free. For a lot of people that means uploading to GitHub. It’s akin to writing a blog on the internet. And if done correctly, which it isn’t always, it allows you to cover off a lot of the benefits of publishing we stated earlier, and also address some of the ethical issues.</a:t>
            </a:r>
          </a:p>
        </p:txBody>
      </p:sp>
      <p:sp>
        <p:nvSpPr>
          <p:cNvPr id="4" name="Slide Number Placeholder 3"/>
          <p:cNvSpPr>
            <a:spLocks noGrp="1"/>
          </p:cNvSpPr>
          <p:nvPr>
            <p:ph type="sldNum" sz="quarter" idx="5"/>
          </p:nvPr>
        </p:nvSpPr>
        <p:spPr/>
        <p:txBody>
          <a:bodyPr/>
          <a:lstStyle/>
          <a:p>
            <a:fld id="{201484FD-10DA-4547-A01E-D86EDBCF772B}" type="slidenum">
              <a:rPr lang="en-US" smtClean="0"/>
              <a:t>17</a:t>
            </a:fld>
            <a:endParaRPr lang="en-US"/>
          </a:p>
        </p:txBody>
      </p:sp>
    </p:spTree>
    <p:extLst>
      <p:ext uri="{BB962C8B-B14F-4D97-AF65-F5344CB8AC3E}">
        <p14:creationId xmlns:p14="http://schemas.microsoft.com/office/powerpoint/2010/main" val="432620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1484FD-10DA-4547-A01E-D86EDBCF772B}" type="slidenum">
              <a:rPr lang="en-US" smtClean="0"/>
              <a:t>18</a:t>
            </a:fld>
            <a:endParaRPr lang="en-US"/>
          </a:p>
        </p:txBody>
      </p:sp>
    </p:spTree>
    <p:extLst>
      <p:ext uri="{BB962C8B-B14F-4D97-AF65-F5344CB8AC3E}">
        <p14:creationId xmlns:p14="http://schemas.microsoft.com/office/powerpoint/2010/main" val="543613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Firstly, building a basic user interface.</a:t>
            </a:r>
          </a:p>
          <a:p>
            <a:endParaRPr lang="en-US" dirty="0"/>
          </a:p>
          <a:p>
            <a:r>
              <a:rPr lang="en-US" dirty="0"/>
              <a:t>Secondly, building a CLI.</a:t>
            </a:r>
          </a:p>
          <a:p>
            <a:endParaRPr lang="en-US" dirty="0"/>
          </a:p>
          <a:p>
            <a:r>
              <a:rPr lang="en-US" dirty="0"/>
              <a:t>Third, making the package pip installable.</a:t>
            </a:r>
          </a:p>
          <a:p>
            <a:endParaRPr lang="en-US" dirty="0"/>
          </a:p>
          <a:p>
            <a:r>
              <a:rPr lang="en-US" dirty="0"/>
              <a:t>And finally, automate the testing and publishing process.</a:t>
            </a:r>
          </a:p>
        </p:txBody>
      </p:sp>
      <p:sp>
        <p:nvSpPr>
          <p:cNvPr id="4" name="Slide Number Placeholder 3"/>
          <p:cNvSpPr>
            <a:spLocks noGrp="1"/>
          </p:cNvSpPr>
          <p:nvPr>
            <p:ph type="sldNum" sz="quarter" idx="5"/>
          </p:nvPr>
        </p:nvSpPr>
        <p:spPr/>
        <p:txBody>
          <a:bodyPr/>
          <a:lstStyle/>
          <a:p>
            <a:fld id="{405232F6-B76B-E748-9DF9-431B1E2F1F8C}" type="slidenum">
              <a:rPr lang="en-US" smtClean="0"/>
              <a:t>19</a:t>
            </a:fld>
            <a:endParaRPr lang="en-US"/>
          </a:p>
        </p:txBody>
      </p:sp>
    </p:spTree>
    <p:extLst>
      <p:ext uri="{BB962C8B-B14F-4D97-AF65-F5344CB8AC3E}">
        <p14:creationId xmlns:p14="http://schemas.microsoft.com/office/powerpoint/2010/main" val="1519514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now introduce you to the project itself</a:t>
            </a:r>
          </a:p>
          <a:p>
            <a:endParaRPr lang="en-US" dirty="0"/>
          </a:p>
          <a:p>
            <a:r>
              <a:rPr lang="en-US" dirty="0"/>
              <a:t>Focus isn't on software just the process </a:t>
            </a:r>
          </a:p>
          <a:p>
            <a:endParaRPr lang="en-US" dirty="0"/>
          </a:p>
          <a:p>
            <a:endParaRPr lang="en-US" dirty="0"/>
          </a:p>
          <a:p>
            <a:r>
              <a:rPr lang="en-US" dirty="0"/>
              <a:t>the Wisconsin Breast cancer dataset. It’s trivial to achieve high accuracy. We do some typical exploratory data analysis</a:t>
            </a:r>
          </a:p>
          <a:p>
            <a:endParaRPr lang="en-US" dirty="0"/>
          </a:p>
          <a:p>
            <a:r>
              <a:rPr lang="en-US" dirty="0"/>
              <a:t>Explain </a:t>
            </a:r>
            <a:r>
              <a:rPr lang="en-US" dirty="0" err="1"/>
              <a:t>jupyter</a:t>
            </a:r>
            <a:r>
              <a:rPr lang="en-US" dirty="0"/>
              <a:t> notebook starting point vs. python scripts</a:t>
            </a:r>
          </a:p>
          <a:p>
            <a:endParaRPr lang="en-US" dirty="0"/>
          </a:p>
          <a:p>
            <a:r>
              <a:rPr lang="en-US" dirty="0"/>
              <a:t>Also included is a </a:t>
            </a:r>
            <a:r>
              <a:rPr lang="en-US" dirty="0" err="1"/>
              <a:t>requirements.txt</a:t>
            </a:r>
            <a:r>
              <a:rPr lang="en-US" dirty="0"/>
              <a:t> file, which is more for you so that you know what package versions you need, a saved model, and some python scripts.</a:t>
            </a:r>
          </a:p>
          <a:p>
            <a:endParaRPr lang="en-US" dirty="0"/>
          </a:p>
          <a:p>
            <a:r>
              <a:rPr lang="en-US" dirty="0"/>
              <a:t>And then in the actual workshop itself we use our teaching platform.</a:t>
            </a:r>
          </a:p>
          <a:p>
            <a:endParaRPr lang="en-US" dirty="0"/>
          </a:p>
          <a:p>
            <a:r>
              <a:rPr lang="en-US" dirty="0"/>
              <a:t>CONTRIBUTIONS WELCOME!!!!!</a:t>
            </a:r>
          </a:p>
          <a:p>
            <a:endParaRPr lang="en-US" dirty="0"/>
          </a:p>
          <a:p>
            <a:r>
              <a:rPr lang="en-US" dirty="0"/>
              <a:t>So something that is immediately noticeable is that at the core of all of this are two things:</a:t>
            </a:r>
          </a:p>
          <a:p>
            <a:pPr marL="171450" indent="-171450">
              <a:buFontTx/>
              <a:buChar char="-"/>
            </a:pPr>
            <a:r>
              <a:rPr lang="en-US" dirty="0"/>
              <a:t>Poetry</a:t>
            </a:r>
          </a:p>
          <a:p>
            <a:pPr marL="171450" indent="-171450">
              <a:buFontTx/>
              <a:buChar char="-"/>
            </a:pPr>
            <a:r>
              <a:rPr lang="en-US" dirty="0"/>
              <a:t>GitHub</a:t>
            </a:r>
          </a:p>
          <a:p>
            <a:endParaRPr lang="en-US" dirty="0"/>
          </a:p>
          <a:p>
            <a:r>
              <a:rPr lang="en-US" dirty="0"/>
              <a:t>And all of it happens within VS Code. These are really the most valuable tools for basic developing in python today. So for the remainder</a:t>
            </a:r>
          </a:p>
          <a:p>
            <a:endParaRPr lang="en-US" dirty="0"/>
          </a:p>
        </p:txBody>
      </p:sp>
      <p:sp>
        <p:nvSpPr>
          <p:cNvPr id="4" name="Slide Number Placeholder 3"/>
          <p:cNvSpPr>
            <a:spLocks noGrp="1"/>
          </p:cNvSpPr>
          <p:nvPr>
            <p:ph type="sldNum" sz="quarter" idx="5"/>
          </p:nvPr>
        </p:nvSpPr>
        <p:spPr/>
        <p:txBody>
          <a:bodyPr/>
          <a:lstStyle/>
          <a:p>
            <a:fld id="{FE27E4C1-A6EC-8946-BBCD-755D8945F25F}" type="slidenum">
              <a:rPr lang="en-US" smtClean="0"/>
              <a:t>20</a:t>
            </a:fld>
            <a:endParaRPr lang="en-US"/>
          </a:p>
        </p:txBody>
      </p:sp>
    </p:spTree>
    <p:extLst>
      <p:ext uri="{BB962C8B-B14F-4D97-AF65-F5344CB8AC3E}">
        <p14:creationId xmlns:p14="http://schemas.microsoft.com/office/powerpoint/2010/main" val="200964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A98F-81BD-E81E-6B95-350C98E8634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382F6D4-92E9-48BD-838D-04ADD2C798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142C55A-5990-D1E9-614A-247CB520A8B3}"/>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5" name="Footer Placeholder 4">
            <a:extLst>
              <a:ext uri="{FF2B5EF4-FFF2-40B4-BE49-F238E27FC236}">
                <a16:creationId xmlns:a16="http://schemas.microsoft.com/office/drawing/2014/main" id="{6E8D4620-A5E1-E524-D31E-9B43162ED2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76909-CFF4-E618-35A6-6CB20C21093D}"/>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351730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61E8-9CCD-2C2A-5BD3-C6C4FEB0A74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C90078A-D6DB-0B1D-4FC7-B9571C2E0F0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2ACB6E-16FD-3B96-6F7B-D797F2800EA3}"/>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5" name="Footer Placeholder 4">
            <a:extLst>
              <a:ext uri="{FF2B5EF4-FFF2-40B4-BE49-F238E27FC236}">
                <a16:creationId xmlns:a16="http://schemas.microsoft.com/office/drawing/2014/main" id="{8A691EC1-EE02-126D-8BFD-4DB4E0BEF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824789-13FC-0731-E5BC-B5E889F04A4B}"/>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4063066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F393F-2D4B-D1D3-3B0B-6EB9C072ED9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4B79360-8E42-9E4D-788F-73417F561D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DECA94D-6C35-0F68-9F8C-B9AADF8979B6}"/>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5" name="Footer Placeholder 4">
            <a:extLst>
              <a:ext uri="{FF2B5EF4-FFF2-40B4-BE49-F238E27FC236}">
                <a16:creationId xmlns:a16="http://schemas.microsoft.com/office/drawing/2014/main" id="{3D152B87-45FE-4722-438E-8518ED15E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77BA9-13D8-3A48-9A5F-E70BDCB86E01}"/>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3629726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635B7-B9F3-112E-3E2F-0CAC6A3C296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D83B0C-9B9E-FC45-6F6C-B5CC6F38485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FE4C850-1F78-94B7-E456-C9838B4B388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8903C28-8251-0334-8676-E0FEB779B5EE}"/>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6" name="Footer Placeholder 5">
            <a:extLst>
              <a:ext uri="{FF2B5EF4-FFF2-40B4-BE49-F238E27FC236}">
                <a16:creationId xmlns:a16="http://schemas.microsoft.com/office/drawing/2014/main" id="{71A08542-5681-8118-9ABB-4F7E391799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7724CB-C2F8-1085-826A-AFB0A88BCE51}"/>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3907448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470B5-2A4F-6DE6-C8F4-A55D71AA416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E3FFEF6-4CA1-207B-0439-9C082054FE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3F37AC3-70AB-D2F8-760B-7319B6E02D1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BD99920-9108-6BDC-6E5E-4FAB7D1C61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7EEA484-4E0E-4FB6-BF25-3BDD9F26336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93E5CAE-7E0D-E301-3D42-F4AD3F09E7A4}"/>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8" name="Footer Placeholder 7">
            <a:extLst>
              <a:ext uri="{FF2B5EF4-FFF2-40B4-BE49-F238E27FC236}">
                <a16:creationId xmlns:a16="http://schemas.microsoft.com/office/drawing/2014/main" id="{0E34BBBF-3D49-AB36-AA42-2C71F561A1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8BBFD6-C140-77D0-E04D-4D7AFAE743B6}"/>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3640500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480D-C4F4-8A38-1D32-A8DD6A4FCCE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6533335-B772-883C-F0AD-3119BD5DAB8D}"/>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4" name="Footer Placeholder 3">
            <a:extLst>
              <a:ext uri="{FF2B5EF4-FFF2-40B4-BE49-F238E27FC236}">
                <a16:creationId xmlns:a16="http://schemas.microsoft.com/office/drawing/2014/main" id="{D81A121C-66BE-2E84-6483-D310632550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E645F2-DEEC-B9E1-5643-B23F70D669AA}"/>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1859284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F40209-56E9-8BAF-F680-B023049F6396}"/>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3" name="Footer Placeholder 2">
            <a:extLst>
              <a:ext uri="{FF2B5EF4-FFF2-40B4-BE49-F238E27FC236}">
                <a16:creationId xmlns:a16="http://schemas.microsoft.com/office/drawing/2014/main" id="{65C6969B-AA44-9F6D-E7DE-FCFBB2003B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FFB2B4-BDAA-A571-7E33-0C7A17F08566}"/>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2738543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D2270-BEA1-F20B-8447-78E7A799936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2187675-15B8-9E26-78ED-7A61F3767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40AC307-F3BB-7795-DEAF-7689A25A18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808E6A-851D-8559-4532-24598C7CDC8E}"/>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6" name="Footer Placeholder 5">
            <a:extLst>
              <a:ext uri="{FF2B5EF4-FFF2-40B4-BE49-F238E27FC236}">
                <a16:creationId xmlns:a16="http://schemas.microsoft.com/office/drawing/2014/main" id="{2BD9BF8D-DB65-3B4B-0C1B-ED8152EA3F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A77A74-EB4F-31D2-861A-E84C80789E9C}"/>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1119252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2127D-D5C8-CEE5-179A-06A407022B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769AD3A-84AE-40B5-D822-FC9AD6B6A9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797C2A-54B6-9EB7-D5C8-40019065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B96336-589E-807E-F5B1-9B8D0D0C650C}"/>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6" name="Footer Placeholder 5">
            <a:extLst>
              <a:ext uri="{FF2B5EF4-FFF2-40B4-BE49-F238E27FC236}">
                <a16:creationId xmlns:a16="http://schemas.microsoft.com/office/drawing/2014/main" id="{01F591F1-F167-F09E-B172-687FEFAFF1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43D8FA-C770-7F0C-DCF6-CEB8D7105D9A}"/>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1351898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033B3-E90B-5141-0F44-DF43456CD26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D19E1FC-8749-BEE4-5543-5DCF5B05173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E48BEE-4374-1132-9B16-38DC728AC635}"/>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5" name="Footer Placeholder 4">
            <a:extLst>
              <a:ext uri="{FF2B5EF4-FFF2-40B4-BE49-F238E27FC236}">
                <a16:creationId xmlns:a16="http://schemas.microsoft.com/office/drawing/2014/main" id="{BC72CB1D-638D-ACB0-CE4F-73786CA998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13832-2184-DD57-0BC4-14100E88E8FD}"/>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1721799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50E895-3481-057F-8E78-8CF54406A4C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394E2B-A059-CC2A-D419-0CA3FBCF2D4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3536CC-418D-E341-3F39-03CDAEA3DD1E}"/>
              </a:ext>
            </a:extLst>
          </p:cNvPr>
          <p:cNvSpPr>
            <a:spLocks noGrp="1"/>
          </p:cNvSpPr>
          <p:nvPr>
            <p:ph type="dt" sz="half" idx="10"/>
          </p:nvPr>
        </p:nvSpPr>
        <p:spPr/>
        <p:txBody>
          <a:bodyPr/>
          <a:lstStyle/>
          <a:p>
            <a:fld id="{03A7FFF3-97E5-DB4D-8BDB-E891BF64B3D1}" type="datetimeFigureOut">
              <a:rPr lang="en-US" smtClean="0"/>
              <a:t>3/10/26</a:t>
            </a:fld>
            <a:endParaRPr lang="en-US"/>
          </a:p>
        </p:txBody>
      </p:sp>
      <p:sp>
        <p:nvSpPr>
          <p:cNvPr id="5" name="Footer Placeholder 4">
            <a:extLst>
              <a:ext uri="{FF2B5EF4-FFF2-40B4-BE49-F238E27FC236}">
                <a16:creationId xmlns:a16="http://schemas.microsoft.com/office/drawing/2014/main" id="{15CFD17F-574F-C62D-BC12-A1743450C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DA8F1-0D69-62AA-E588-A258C6ADF3F7}"/>
              </a:ext>
            </a:extLst>
          </p:cNvPr>
          <p:cNvSpPr>
            <a:spLocks noGrp="1"/>
          </p:cNvSpPr>
          <p:nvPr>
            <p:ph type="sldNum" sz="quarter" idx="12"/>
          </p:nvPr>
        </p:nvSpPr>
        <p:spPr/>
        <p:txBody>
          <a:bodyPr/>
          <a:lstStyle/>
          <a:p>
            <a:fld id="{A8893EFA-76BA-6644-A010-7E30202C2AFA}" type="slidenum">
              <a:rPr lang="en-US" smtClean="0"/>
              <a:t>‹#›</a:t>
            </a:fld>
            <a:endParaRPr lang="en-US"/>
          </a:p>
        </p:txBody>
      </p:sp>
    </p:spTree>
    <p:extLst>
      <p:ext uri="{BB962C8B-B14F-4D97-AF65-F5344CB8AC3E}">
        <p14:creationId xmlns:p14="http://schemas.microsoft.com/office/powerpoint/2010/main" val="1746362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b">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alphaModFix amt="30000"/>
            <a:extLst>
              <a:ext uri="{28A0092B-C50C-407E-A947-70E740481C1C}">
                <a14:useLocalDpi xmlns:a14="http://schemas.microsoft.com/office/drawing/2010/main" val="0"/>
              </a:ext>
            </a:extLst>
          </a:blip>
          <a:stretch>
            <a:fillRect/>
          </a:stretch>
        </p:blipFill>
        <p:spPr>
          <a:xfrm>
            <a:off x="7318129" y="0"/>
            <a:ext cx="4873871" cy="7395883"/>
          </a:xfrm>
          <a:prstGeom prst="rect">
            <a:avLst/>
          </a:prstGeom>
        </p:spPr>
      </p:pic>
      <p:sp>
        <p:nvSpPr>
          <p:cNvPr id="11" name="Text Placeholder 5"/>
          <p:cNvSpPr>
            <a:spLocks noGrp="1"/>
          </p:cNvSpPr>
          <p:nvPr>
            <p:ph type="body" sz="quarter" idx="10" hasCustomPrompt="1"/>
          </p:nvPr>
        </p:nvSpPr>
        <p:spPr>
          <a:xfrm>
            <a:off x="503659" y="373404"/>
            <a:ext cx="11176000" cy="633913"/>
          </a:xfrm>
          <a:prstGeom prst="rect">
            <a:avLst/>
          </a:prstGeom>
        </p:spPr>
        <p:txBody>
          <a:bodyPr vert="horz">
            <a:normAutofit/>
          </a:bodyPr>
          <a:lstStyle>
            <a:lvl1pPr marL="0" indent="0">
              <a:buNone/>
              <a:defRPr sz="3200" b="0" i="0" baseline="0">
                <a:solidFill>
                  <a:srgbClr val="235EE2"/>
                </a:solidFill>
                <a:latin typeface="Aptos" panose="020B0004020202020204" pitchFamily="34" charset="0"/>
                <a:cs typeface="Aptos" panose="020B0004020202020204" pitchFamily="34" charset="0"/>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dirty="0"/>
              <a:t>Slide title</a:t>
            </a:r>
          </a:p>
        </p:txBody>
      </p:sp>
      <p:cxnSp>
        <p:nvCxnSpPr>
          <p:cNvPr id="13" name="Straight Connector 12"/>
          <p:cNvCxnSpPr/>
          <p:nvPr userDrawn="1"/>
        </p:nvCxnSpPr>
        <p:spPr>
          <a:xfrm>
            <a:off x="503659" y="1071268"/>
            <a:ext cx="11176000" cy="0"/>
          </a:xfrm>
          <a:prstGeom prst="line">
            <a:avLst/>
          </a:prstGeom>
          <a:ln>
            <a:solidFill>
              <a:srgbClr val="1F5AE6"/>
            </a:solidFill>
          </a:ln>
          <a:effectLst/>
        </p:spPr>
        <p:style>
          <a:lnRef idx="2">
            <a:schemeClr val="accent1"/>
          </a:lnRef>
          <a:fillRef idx="0">
            <a:schemeClr val="accent1"/>
          </a:fillRef>
          <a:effectRef idx="1">
            <a:schemeClr val="accent1"/>
          </a:effectRef>
          <a:fontRef idx="minor">
            <a:schemeClr val="tx1"/>
          </a:fontRef>
        </p:style>
      </p:cxnSp>
      <p:sp>
        <p:nvSpPr>
          <p:cNvPr id="14" name="Text Placeholder 5"/>
          <p:cNvSpPr>
            <a:spLocks noGrp="1"/>
          </p:cNvSpPr>
          <p:nvPr>
            <p:ph type="body" sz="quarter" idx="11" hasCustomPrompt="1"/>
          </p:nvPr>
        </p:nvSpPr>
        <p:spPr>
          <a:xfrm>
            <a:off x="503659" y="1146008"/>
            <a:ext cx="11176000" cy="599429"/>
          </a:xfrm>
          <a:prstGeom prst="rect">
            <a:avLst/>
          </a:prstGeom>
        </p:spPr>
        <p:txBody>
          <a:bodyPr vert="horz">
            <a:normAutofit/>
          </a:bodyPr>
          <a:lstStyle>
            <a:lvl1pPr marL="0" indent="0">
              <a:buNone/>
              <a:defRPr sz="2667" b="0" i="0" baseline="0">
                <a:solidFill>
                  <a:schemeClr val="tx1">
                    <a:lumMod val="75000"/>
                    <a:lumOff val="25000"/>
                  </a:schemeClr>
                </a:solidFill>
                <a:latin typeface="Aptos" panose="020B0004020202020204" pitchFamily="34" charset="0"/>
                <a:cs typeface="Aptos" panose="020B0004020202020204" pitchFamily="34" charset="0"/>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dirty="0"/>
              <a:t>Sub-title</a:t>
            </a:r>
          </a:p>
        </p:txBody>
      </p:sp>
      <p:sp>
        <p:nvSpPr>
          <p:cNvPr id="15" name="Text Placeholder 5"/>
          <p:cNvSpPr>
            <a:spLocks noGrp="1"/>
          </p:cNvSpPr>
          <p:nvPr>
            <p:ph type="body" sz="quarter" idx="12" hasCustomPrompt="1"/>
          </p:nvPr>
        </p:nvSpPr>
        <p:spPr>
          <a:xfrm>
            <a:off x="503659" y="1867010"/>
            <a:ext cx="11176000" cy="3994529"/>
          </a:xfrm>
          <a:prstGeom prst="rect">
            <a:avLst/>
          </a:prstGeom>
        </p:spPr>
        <p:txBody>
          <a:bodyPr vert="horz"/>
          <a:lstStyle>
            <a:lvl1pPr marL="380990" indent="-380990">
              <a:buClr>
                <a:srgbClr val="235EE2"/>
              </a:buClr>
              <a:buSzPct val="70000"/>
              <a:buFont typeface="Courier New"/>
              <a:buChar char="o"/>
              <a:defRPr sz="1867" b="0" i="0" baseline="0">
                <a:solidFill>
                  <a:schemeClr val="tx1">
                    <a:lumMod val="75000"/>
                    <a:lumOff val="25000"/>
                  </a:schemeClr>
                </a:solidFill>
                <a:latin typeface="Aptos" panose="020B0004020202020204" pitchFamily="34" charset="0"/>
                <a:cs typeface="Aptos" panose="020B0004020202020204" pitchFamily="34" charset="0"/>
              </a:defRPr>
            </a:lvl1pPr>
            <a:lvl2pPr>
              <a:buClr>
                <a:srgbClr val="235EE2"/>
              </a:buClr>
              <a:buSzPct val="70000"/>
              <a:defRPr sz="1600" baseline="0">
                <a:solidFill>
                  <a:schemeClr val="tx1">
                    <a:lumMod val="65000"/>
                    <a:lumOff val="35000"/>
                  </a:schemeClr>
                </a:solidFill>
                <a:latin typeface="Helvetica Light"/>
                <a:cs typeface="Helvetica Light"/>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dirty="0"/>
              <a:t>Body text</a:t>
            </a:r>
          </a:p>
          <a:p>
            <a:pPr lvl="1"/>
            <a:r>
              <a:rPr lang="en-US" dirty="0">
                <a:latin typeface="Avenir Book"/>
                <a:cs typeface="Avenir Book"/>
              </a:rPr>
              <a:t>Sub text</a:t>
            </a:r>
            <a:endParaRPr lang="en-US" dirty="0"/>
          </a:p>
          <a:p>
            <a:pPr lvl="0"/>
            <a:endParaRPr lang="en-US" dirty="0"/>
          </a:p>
        </p:txBody>
      </p:sp>
      <p:pic>
        <p:nvPicPr>
          <p:cNvPr id="10" name="Picture 9" descr="logo landscap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419" y="6042840"/>
            <a:ext cx="1719725" cy="514429"/>
          </a:xfrm>
          <a:prstGeom prst="rect">
            <a:avLst/>
          </a:prstGeom>
        </p:spPr>
      </p:pic>
      <p:pic>
        <p:nvPicPr>
          <p:cNvPr id="12" name="Picture 11" descr="Schmidt 1.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Tree>
    <p:extLst>
      <p:ext uri="{BB962C8B-B14F-4D97-AF65-F5344CB8AC3E}">
        <p14:creationId xmlns:p14="http://schemas.microsoft.com/office/powerpoint/2010/main" val="235095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b/w">
    <p:spTree>
      <p:nvGrpSpPr>
        <p:cNvPr id="1" name=""/>
        <p:cNvGrpSpPr/>
        <p:nvPr/>
      </p:nvGrpSpPr>
      <p:grpSpPr>
        <a:xfrm>
          <a:off x="0" y="0"/>
          <a:ext cx="0" cy="0"/>
          <a:chOff x="0" y="0"/>
          <a:chExt cx="0" cy="0"/>
        </a:xfrm>
      </p:grpSpPr>
      <p:sp>
        <p:nvSpPr>
          <p:cNvPr id="12" name="Rectangle 11"/>
          <p:cNvSpPr/>
          <p:nvPr userDrawn="1"/>
        </p:nvSpPr>
        <p:spPr>
          <a:xfrm>
            <a:off x="1" y="5688218"/>
            <a:ext cx="7288945" cy="1169781"/>
          </a:xfrm>
          <a:prstGeom prst="rect">
            <a:avLst/>
          </a:prstGeom>
          <a:solidFill>
            <a:srgbClr val="1F5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269E62"/>
              </a:solidFill>
            </a:endParaRP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856" y="6042840"/>
            <a:ext cx="1718851" cy="514429"/>
          </a:xfrm>
          <a:prstGeom prst="rect">
            <a:avLst/>
          </a:prstGeom>
        </p:spPr>
      </p:pic>
      <p:pic>
        <p:nvPicPr>
          <p:cNvPr id="11" name="Picture 10" descr="Schmidt 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
        <p:nvSpPr>
          <p:cNvPr id="10" name="Text Placeholder 13"/>
          <p:cNvSpPr>
            <a:spLocks noGrp="1"/>
          </p:cNvSpPr>
          <p:nvPr>
            <p:ph type="body" sz="quarter" idx="10" hasCustomPrompt="1"/>
          </p:nvPr>
        </p:nvSpPr>
        <p:spPr>
          <a:xfrm>
            <a:off x="808654" y="1492897"/>
            <a:ext cx="6480292" cy="1458343"/>
          </a:xfrm>
        </p:spPr>
        <p:txBody>
          <a:bodyPr/>
          <a:lstStyle>
            <a:lvl1pPr marL="0" indent="0">
              <a:buNone/>
              <a:defRPr b="0" i="0">
                <a:solidFill>
                  <a:srgbClr val="235EE2"/>
                </a:solidFill>
                <a:latin typeface="Aptos" panose="020B0004020202020204" pitchFamily="34" charset="0"/>
                <a:cs typeface="Aptos" panose="020B0004020202020204" pitchFamily="34" charset="0"/>
              </a:defRPr>
            </a:lvl1pPr>
          </a:lstStyle>
          <a:p>
            <a:pPr lvl="0"/>
            <a:r>
              <a:rPr lang="en-GB" dirty="0"/>
              <a:t>Title</a:t>
            </a:r>
            <a:endParaRPr lang="en-US" dirty="0"/>
          </a:p>
        </p:txBody>
      </p:sp>
      <p:sp>
        <p:nvSpPr>
          <p:cNvPr id="13" name="Text Placeholder 13"/>
          <p:cNvSpPr>
            <a:spLocks noGrp="1"/>
          </p:cNvSpPr>
          <p:nvPr>
            <p:ph type="body" sz="quarter" idx="11" hasCustomPrompt="1"/>
          </p:nvPr>
        </p:nvSpPr>
        <p:spPr>
          <a:xfrm>
            <a:off x="808654" y="3054911"/>
            <a:ext cx="6480292" cy="870859"/>
          </a:xfrm>
        </p:spPr>
        <p:txBody>
          <a:bodyPr>
            <a:normAutofit/>
          </a:bodyPr>
          <a:lstStyle>
            <a:lvl1pPr marL="0" indent="0">
              <a:buNone/>
              <a:defRPr sz="2667" b="0" i="0">
                <a:solidFill>
                  <a:srgbClr val="235EE2"/>
                </a:solidFill>
                <a:latin typeface="Aptos" panose="020B0004020202020204" pitchFamily="34" charset="0"/>
                <a:cs typeface="Aptos" panose="020B0004020202020204" pitchFamily="34" charset="0"/>
              </a:defRPr>
            </a:lvl1pPr>
          </a:lstStyle>
          <a:p>
            <a:pPr lvl="0"/>
            <a:r>
              <a:rPr lang="en-GB" dirty="0"/>
              <a:t>Sub-title</a:t>
            </a:r>
            <a:endParaRPr lang="en-US" dirty="0"/>
          </a:p>
        </p:txBody>
      </p:sp>
      <p:sp>
        <p:nvSpPr>
          <p:cNvPr id="17" name="Text Placeholder 13"/>
          <p:cNvSpPr>
            <a:spLocks noGrp="1"/>
          </p:cNvSpPr>
          <p:nvPr>
            <p:ph type="body" sz="quarter" idx="12" hasCustomPrompt="1"/>
          </p:nvPr>
        </p:nvSpPr>
        <p:spPr>
          <a:xfrm>
            <a:off x="808654" y="4022529"/>
            <a:ext cx="6480292" cy="483811"/>
          </a:xfrm>
        </p:spPr>
        <p:txBody>
          <a:bodyPr>
            <a:normAutofit/>
          </a:bodyPr>
          <a:lstStyle>
            <a:lvl1pPr marL="0" indent="0">
              <a:buNone/>
              <a:defRPr sz="2133" b="0">
                <a:solidFill>
                  <a:srgbClr val="235EE2"/>
                </a:solidFill>
                <a:latin typeface="Helvetica Light"/>
                <a:cs typeface="Helvetica Light"/>
              </a:defRPr>
            </a:lvl1pPr>
          </a:lstStyle>
          <a:p>
            <a:pPr lvl="0"/>
            <a:r>
              <a:rPr lang="en-GB"/>
              <a:t>Sub-text</a:t>
            </a:r>
            <a:endParaRPr lang="en-US"/>
          </a:p>
        </p:txBody>
      </p:sp>
      <p:pic>
        <p:nvPicPr>
          <p:cNvPr id="18" name="Picture 17" descr="colours_1.png"/>
          <p:cNvPicPr>
            <a:picLocks noChangeAspect="1"/>
          </p:cNvPicPr>
          <p:nvPr userDrawn="1"/>
        </p:nvPicPr>
        <p:blipFill rotWithShape="1">
          <a:blip r:embed="rId4">
            <a:extLst>
              <a:ext uri="{28A0092B-C50C-407E-A947-70E740481C1C}">
                <a14:useLocalDpi xmlns:a14="http://schemas.microsoft.com/office/drawing/2010/main" val="0"/>
              </a:ext>
            </a:extLst>
          </a:blip>
          <a:srcRect b="7914"/>
          <a:stretch/>
        </p:blipFill>
        <p:spPr>
          <a:xfrm>
            <a:off x="7288946" y="22435"/>
            <a:ext cx="4903055" cy="6835564"/>
          </a:xfrm>
          <a:prstGeom prst="rect">
            <a:avLst/>
          </a:prstGeom>
        </p:spPr>
      </p:pic>
      <p:cxnSp>
        <p:nvCxnSpPr>
          <p:cNvPr id="19" name="Straight Connector 18"/>
          <p:cNvCxnSpPr/>
          <p:nvPr userDrawn="1"/>
        </p:nvCxnSpPr>
        <p:spPr>
          <a:xfrm>
            <a:off x="808654" y="2999615"/>
            <a:ext cx="6480292" cy="0"/>
          </a:xfrm>
          <a:prstGeom prst="line">
            <a:avLst/>
          </a:prstGeom>
          <a:ln>
            <a:solidFill>
              <a:srgbClr val="235EE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8375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F54ABA-C2E8-4029-2B8D-7FDDD11D70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2124257-6A03-87E6-E74E-85EEFA2BC3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7A63E3-988D-8854-BE3F-94B2AE534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A7FFF3-97E5-DB4D-8BDB-E891BF64B3D1}" type="datetimeFigureOut">
              <a:rPr lang="en-US" smtClean="0"/>
              <a:t>3/10/26</a:t>
            </a:fld>
            <a:endParaRPr lang="en-US"/>
          </a:p>
        </p:txBody>
      </p:sp>
      <p:sp>
        <p:nvSpPr>
          <p:cNvPr id="5" name="Footer Placeholder 4">
            <a:extLst>
              <a:ext uri="{FF2B5EF4-FFF2-40B4-BE49-F238E27FC236}">
                <a16:creationId xmlns:a16="http://schemas.microsoft.com/office/drawing/2014/main" id="{D015EBF0-9025-E4CE-888D-8EE2D5416D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4E0FB1-3CBD-9643-C6C9-4882B5622B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893EFA-76BA-6644-A010-7E30202C2AFA}" type="slidenum">
              <a:rPr lang="en-US" smtClean="0"/>
              <a:t>‹#›</a:t>
            </a:fld>
            <a:endParaRPr lang="en-US"/>
          </a:p>
        </p:txBody>
      </p:sp>
    </p:spTree>
    <p:extLst>
      <p:ext uri="{BB962C8B-B14F-4D97-AF65-F5344CB8AC3E}">
        <p14:creationId xmlns:p14="http://schemas.microsoft.com/office/powerpoint/2010/main" val="4203760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est.pypi.org/"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cceleratescience/large-language-models"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www.unesco.org/en/artificial-intelligence/recommendation-ethics#:~:text=The%20use%20of%20AI%20systems,may%20result%20from%20such%20uses.&amp;text=Unwanted%20harms%20(safety%20risks)%20as,and%20addressed%20by%20AI%20actors."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www.nature.com/articles/s41597-022-01710-x"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archive.ics.uci.edu/dataset/17/breast+cancer+wisconsin+diagnostic"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a:bodyPr>
          <a:lstStyle/>
          <a:p>
            <a:r>
              <a:rPr lang="en-US" b="1" dirty="0"/>
              <a:t>Hello!</a:t>
            </a:r>
          </a:p>
        </p:txBody>
      </p:sp>
      <p:sp>
        <p:nvSpPr>
          <p:cNvPr id="4" name="Text Placeholder 3"/>
          <p:cNvSpPr>
            <a:spLocks noGrp="1"/>
          </p:cNvSpPr>
          <p:nvPr>
            <p:ph type="body" sz="quarter" idx="12"/>
          </p:nvPr>
        </p:nvSpPr>
        <p:spPr/>
        <p:txBody>
          <a:bodyPr vert="horz" lIns="121920" tIns="60960" rIns="121920" bIns="60960" rtlCol="0" anchor="t">
            <a:normAutofit/>
          </a:bodyPr>
          <a:lstStyle/>
          <a:p>
            <a:pPr marL="0" indent="0">
              <a:buNone/>
            </a:pPr>
            <a:r>
              <a:rPr lang="en-US" sz="2267" i="1" dirty="0">
                <a:solidFill>
                  <a:srgbClr val="000000"/>
                </a:solidFill>
              </a:rPr>
              <a:t>If you haven’t already done so, while we’re waiting, please make sure you:</a:t>
            </a:r>
          </a:p>
          <a:p>
            <a:pPr marL="0" indent="0">
              <a:buNone/>
            </a:pPr>
            <a:endParaRPr lang="en-US" sz="2267" i="1" dirty="0">
              <a:solidFill>
                <a:srgbClr val="000000"/>
              </a:solidFill>
            </a:endParaRPr>
          </a:p>
          <a:p>
            <a:r>
              <a:rPr lang="en-US" sz="2267" i="1" dirty="0">
                <a:solidFill>
                  <a:srgbClr val="000000"/>
                </a:solidFill>
              </a:rPr>
              <a:t>have a GitHub account</a:t>
            </a:r>
          </a:p>
          <a:p>
            <a:pPr marL="0" indent="0">
              <a:buNone/>
            </a:pPr>
            <a:endParaRPr lang="en-US" sz="2267" i="1" dirty="0">
              <a:solidFill>
                <a:srgbClr val="000000"/>
              </a:solidFill>
            </a:endParaRPr>
          </a:p>
          <a:p>
            <a:r>
              <a:rPr lang="en-US" sz="2267" i="1" dirty="0">
                <a:solidFill>
                  <a:srgbClr val="000000"/>
                </a:solidFill>
              </a:rPr>
              <a:t>have a </a:t>
            </a:r>
            <a:r>
              <a:rPr lang="en-US" sz="2267" i="1" dirty="0" err="1">
                <a:solidFill>
                  <a:srgbClr val="000000"/>
                </a:solidFill>
              </a:rPr>
              <a:t>TestPyPI</a:t>
            </a:r>
            <a:r>
              <a:rPr lang="en-US" sz="2267" i="1" dirty="0">
                <a:solidFill>
                  <a:srgbClr val="000000"/>
                </a:solidFill>
              </a:rPr>
              <a:t> account at </a:t>
            </a:r>
            <a:r>
              <a:rPr lang="en-US" sz="2200" b="1" dirty="0">
                <a:solidFill>
                  <a:srgbClr val="000000"/>
                </a:solidFill>
                <a:hlinkClick r:id="rId3"/>
              </a:rPr>
              <a:t>https://test.pypi.org/</a:t>
            </a:r>
            <a:endParaRPr lang="en-US" sz="2200" b="1" dirty="0">
              <a:solidFill>
                <a:srgbClr val="000000"/>
              </a:solidFill>
            </a:endParaRPr>
          </a:p>
          <a:p>
            <a:endParaRPr lang="en-US" sz="2200" b="1" dirty="0">
              <a:solidFill>
                <a:srgbClr val="000000"/>
              </a:solidFill>
            </a:endParaRPr>
          </a:p>
          <a:p>
            <a:pPr marL="0" indent="0">
              <a:buNone/>
            </a:pPr>
            <a:r>
              <a:rPr lang="en-US" sz="2200" i="1" dirty="0">
                <a:solidFill>
                  <a:srgbClr val="000000"/>
                </a:solidFill>
              </a:rPr>
              <a:t>You might need to set up 2FA via an authentication app.</a:t>
            </a:r>
          </a:p>
        </p:txBody>
      </p:sp>
    </p:spTree>
    <p:extLst>
      <p:ext uri="{BB962C8B-B14F-4D97-AF65-F5344CB8AC3E}">
        <p14:creationId xmlns:p14="http://schemas.microsoft.com/office/powerpoint/2010/main" val="367741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420195-C79B-3B0F-D479-86340A2C12BB}"/>
              </a:ext>
            </a:extLst>
          </p:cNvPr>
          <p:cNvSpPr>
            <a:spLocks noGrp="1"/>
          </p:cNvSpPr>
          <p:nvPr>
            <p:ph type="body" sz="quarter" idx="10"/>
          </p:nvPr>
        </p:nvSpPr>
        <p:spPr/>
        <p:txBody>
          <a:bodyPr/>
          <a:lstStyle/>
          <a:p>
            <a:r>
              <a:rPr lang="en-US" dirty="0"/>
              <a:t>Documentation</a:t>
            </a:r>
          </a:p>
        </p:txBody>
      </p:sp>
      <p:sp>
        <p:nvSpPr>
          <p:cNvPr id="3" name="Text Placeholder 2">
            <a:extLst>
              <a:ext uri="{FF2B5EF4-FFF2-40B4-BE49-F238E27FC236}">
                <a16:creationId xmlns:a16="http://schemas.microsoft.com/office/drawing/2014/main" id="{3299C1E5-C214-D48B-72FD-890B98593842}"/>
              </a:ext>
            </a:extLst>
          </p:cNvPr>
          <p:cNvSpPr>
            <a:spLocks noGrp="1"/>
          </p:cNvSpPr>
          <p:nvPr>
            <p:ph type="body" sz="quarter" idx="11"/>
          </p:nvPr>
        </p:nvSpPr>
        <p:spPr>
          <a:xfrm>
            <a:off x="503659" y="1146008"/>
            <a:ext cx="11176000" cy="5618859"/>
          </a:xfrm>
        </p:spPr>
        <p:txBody>
          <a:bodyPr>
            <a:normAutofit/>
          </a:bodyPr>
          <a:lstStyle/>
          <a:p>
            <a:r>
              <a:rPr lang="en-US" dirty="0"/>
              <a:t>Documentation for hands-on exercises available at:</a:t>
            </a:r>
          </a:p>
          <a:p>
            <a:endParaRPr lang="en-US" dirty="0"/>
          </a:p>
          <a:p>
            <a:r>
              <a:rPr lang="en-US" b="1" u="sng" dirty="0" err="1">
                <a:solidFill>
                  <a:srgbClr val="235DE3"/>
                </a:solidFill>
              </a:rPr>
              <a:t>docs.science.ai.cam.ac.uk</a:t>
            </a:r>
            <a:r>
              <a:rPr lang="en-US" b="1" u="sng" dirty="0">
                <a:solidFill>
                  <a:srgbClr val="235DE3"/>
                </a:solidFill>
              </a:rPr>
              <a:t>/packaging-publishing</a:t>
            </a:r>
          </a:p>
          <a:p>
            <a:endParaRPr lang="en-US" dirty="0"/>
          </a:p>
        </p:txBody>
      </p:sp>
      <p:pic>
        <p:nvPicPr>
          <p:cNvPr id="5" name="Picture 4">
            <a:extLst>
              <a:ext uri="{FF2B5EF4-FFF2-40B4-BE49-F238E27FC236}">
                <a16:creationId xmlns:a16="http://schemas.microsoft.com/office/drawing/2014/main" id="{87871792-B3FC-815F-FFEE-2E61E7225FE3}"/>
              </a:ext>
            </a:extLst>
          </p:cNvPr>
          <p:cNvPicPr>
            <a:picLocks noChangeAspect="1"/>
          </p:cNvPicPr>
          <p:nvPr/>
        </p:nvPicPr>
        <p:blipFill>
          <a:blip r:embed="rId3"/>
          <a:stretch>
            <a:fillRect/>
          </a:stretch>
        </p:blipFill>
        <p:spPr>
          <a:xfrm>
            <a:off x="3310466" y="2725864"/>
            <a:ext cx="5096934" cy="3430628"/>
          </a:xfrm>
          <a:prstGeom prst="rect">
            <a:avLst/>
          </a:prstGeom>
        </p:spPr>
      </p:pic>
    </p:spTree>
    <p:extLst>
      <p:ext uri="{BB962C8B-B14F-4D97-AF65-F5344CB8AC3E}">
        <p14:creationId xmlns:p14="http://schemas.microsoft.com/office/powerpoint/2010/main" val="4191210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t sitting on a rock looking at a river in the fog&#10;&#10;Description automatically generated">
            <a:extLst>
              <a:ext uri="{FF2B5EF4-FFF2-40B4-BE49-F238E27FC236}">
                <a16:creationId xmlns:a16="http://schemas.microsoft.com/office/drawing/2014/main" id="{C8DF7C4A-A14B-5DE0-3513-1C8EE8EF4768}"/>
              </a:ext>
            </a:extLst>
          </p:cNvPr>
          <p:cNvPicPr>
            <a:picLocks noChangeAspect="1"/>
          </p:cNvPicPr>
          <p:nvPr/>
        </p:nvPicPr>
        <p:blipFill>
          <a:blip r:embed="rId3"/>
          <a:stretch>
            <a:fillRect/>
          </a:stretch>
        </p:blipFill>
        <p:spPr>
          <a:xfrm>
            <a:off x="-203964" y="-170979"/>
            <a:ext cx="12599927" cy="7199957"/>
          </a:xfrm>
          <a:prstGeom prst="rect">
            <a:avLst/>
          </a:prstGeom>
        </p:spPr>
      </p:pic>
      <p:sp>
        <p:nvSpPr>
          <p:cNvPr id="22" name="Rounded Rectangle 21">
            <a:extLst>
              <a:ext uri="{FF2B5EF4-FFF2-40B4-BE49-F238E27FC236}">
                <a16:creationId xmlns:a16="http://schemas.microsoft.com/office/drawing/2014/main" id="{C2F6D12B-1EA5-2C53-C1A0-AE8075F2DEFF}"/>
              </a:ext>
            </a:extLst>
          </p:cNvPr>
          <p:cNvSpPr/>
          <p:nvPr/>
        </p:nvSpPr>
        <p:spPr>
          <a:xfrm>
            <a:off x="568960" y="1076960"/>
            <a:ext cx="8128000" cy="1503680"/>
          </a:xfrm>
          <a:prstGeom prst="roundRect">
            <a:avLst/>
          </a:prstGeom>
          <a:solidFill>
            <a:schemeClr val="accent1">
              <a:alpha val="64178"/>
            </a:schemeClr>
          </a:solidFill>
          <a:ln>
            <a:noFill/>
          </a:ln>
          <a:effectLst>
            <a:outerShdw blurRad="50800" dist="38100" dir="2700000" algn="tl" rotWithShape="0">
              <a:prstClr val="black">
                <a:alpha val="40000"/>
              </a:prstClr>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
            <a:extLst>
              <a:ext uri="{FF2B5EF4-FFF2-40B4-BE49-F238E27FC236}">
                <a16:creationId xmlns:a16="http://schemas.microsoft.com/office/drawing/2014/main" id="{FC053DE3-507E-4CDA-7297-2C99397CD6B9}"/>
              </a:ext>
            </a:extLst>
          </p:cNvPr>
          <p:cNvSpPr>
            <a:spLocks noGrp="1"/>
          </p:cNvSpPr>
          <p:nvPr>
            <p:ph type="body" sz="quarter" idx="10"/>
          </p:nvPr>
        </p:nvSpPr>
        <p:spPr>
          <a:xfrm>
            <a:off x="808653" y="1209040"/>
            <a:ext cx="7888307" cy="1371600"/>
          </a:xfrm>
          <a:noFill/>
          <a:effectLst>
            <a:softEdge rad="51628"/>
          </a:effectLst>
        </p:spPr>
        <p:txBody>
          <a:bodyPr vert="horz" lIns="121920" tIns="60960" rIns="121920" bIns="60960" rtlCol="0" anchor="t">
            <a:normAutofit/>
          </a:bodyPr>
          <a:lstStyle/>
          <a:p>
            <a:r>
              <a:rPr lang="en-US" sz="4000" b="1" dirty="0">
                <a:ln w="12700">
                  <a:solidFill>
                    <a:schemeClr val="tx1"/>
                  </a:solidFill>
                </a:ln>
                <a:solidFill>
                  <a:schemeClr val="bg1"/>
                </a:solidFill>
              </a:rPr>
              <a:t>Packaging and Publishing Python Code for Research</a:t>
            </a:r>
          </a:p>
          <a:p>
            <a:endParaRPr lang="en-US" dirty="0"/>
          </a:p>
        </p:txBody>
      </p:sp>
      <p:sp>
        <p:nvSpPr>
          <p:cNvPr id="15" name="TextBox 14">
            <a:extLst>
              <a:ext uri="{FF2B5EF4-FFF2-40B4-BE49-F238E27FC236}">
                <a16:creationId xmlns:a16="http://schemas.microsoft.com/office/drawing/2014/main" id="{D8175D37-8D21-3AD9-4A01-AC6C724FEAC0}"/>
              </a:ext>
            </a:extLst>
          </p:cNvPr>
          <p:cNvSpPr txBox="1"/>
          <p:nvPr/>
        </p:nvSpPr>
        <p:spPr>
          <a:xfrm>
            <a:off x="2905760" y="3269734"/>
            <a:ext cx="6380480" cy="369332"/>
          </a:xfrm>
          <a:prstGeom prst="rect">
            <a:avLst/>
          </a:prstGeom>
          <a:noFill/>
        </p:spPr>
        <p:txBody>
          <a:bodyPr wrap="square">
            <a:spAutoFit/>
          </a:bodyPr>
          <a:lstStyle/>
          <a:p>
            <a:endParaRPr lang="en-GB" dirty="0"/>
          </a:p>
        </p:txBody>
      </p:sp>
      <p:pic>
        <p:nvPicPr>
          <p:cNvPr id="19" name="Graphic 18">
            <a:extLst>
              <a:ext uri="{FF2B5EF4-FFF2-40B4-BE49-F238E27FC236}">
                <a16:creationId xmlns:a16="http://schemas.microsoft.com/office/drawing/2014/main" id="{3E0EBAEA-CB72-F59F-5A7E-C9DD51C8364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9570" y="4939349"/>
            <a:ext cx="7772400" cy="2408837"/>
          </a:xfrm>
          <a:prstGeom prst="rect">
            <a:avLst/>
          </a:prstGeom>
        </p:spPr>
      </p:pic>
      <p:pic>
        <p:nvPicPr>
          <p:cNvPr id="21" name="Picture 20" descr="A close-up of a sign&#10;&#10;Description automatically generated">
            <a:extLst>
              <a:ext uri="{FF2B5EF4-FFF2-40B4-BE49-F238E27FC236}">
                <a16:creationId xmlns:a16="http://schemas.microsoft.com/office/drawing/2014/main" id="{22DC81F6-343E-B674-A30B-A9404C9A78D5}"/>
              </a:ext>
            </a:extLst>
          </p:cNvPr>
          <p:cNvPicPr>
            <a:picLocks noChangeAspect="1"/>
          </p:cNvPicPr>
          <p:nvPr/>
        </p:nvPicPr>
        <p:blipFill>
          <a:blip r:embed="rId6"/>
          <a:stretch>
            <a:fillRect/>
          </a:stretch>
        </p:blipFill>
        <p:spPr>
          <a:xfrm>
            <a:off x="803649" y="2836266"/>
            <a:ext cx="3829311" cy="1185466"/>
          </a:xfrm>
          <a:prstGeom prst="rect">
            <a:avLst/>
          </a:prstGeom>
        </p:spPr>
      </p:pic>
    </p:spTree>
    <p:extLst>
      <p:ext uri="{BB962C8B-B14F-4D97-AF65-F5344CB8AC3E}">
        <p14:creationId xmlns:p14="http://schemas.microsoft.com/office/powerpoint/2010/main" val="2117379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6C2774-A3D1-373C-201A-05CDE1F419D3}"/>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E88198FA-791C-000C-EE4B-9AA83266B8B6}"/>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9B51CAAA-6D61-E420-7B9F-3849F917A602}"/>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F65E49D6-E4D2-6E4C-1903-18A8DCD1B0E9}"/>
              </a:ext>
            </a:extLst>
          </p:cNvPr>
          <p:cNvPicPr>
            <a:picLocks noChangeAspect="1"/>
          </p:cNvPicPr>
          <p:nvPr/>
        </p:nvPicPr>
        <p:blipFill>
          <a:blip r:embed="rId3"/>
          <a:stretch>
            <a:fillRect/>
          </a:stretch>
        </p:blipFill>
        <p:spPr>
          <a:xfrm>
            <a:off x="-21010" y="0"/>
            <a:ext cx="12234019" cy="6858000"/>
          </a:xfrm>
          <a:prstGeom prst="rect">
            <a:avLst/>
          </a:prstGeom>
        </p:spPr>
      </p:pic>
    </p:spTree>
    <p:extLst>
      <p:ext uri="{BB962C8B-B14F-4D97-AF65-F5344CB8AC3E}">
        <p14:creationId xmlns:p14="http://schemas.microsoft.com/office/powerpoint/2010/main" val="182246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8E6107-8323-0611-5EA7-08F9C6322497}"/>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F363FCB4-2444-4062-230D-C62C484049BF}"/>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5A392CD2-0084-D66F-7A33-0DA86A4E9D8A}"/>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5FE12EF4-1091-DC57-7547-B874F9DC6E88}"/>
              </a:ext>
            </a:extLst>
          </p:cNvPr>
          <p:cNvPicPr>
            <a:picLocks noChangeAspect="1"/>
          </p:cNvPicPr>
          <p:nvPr/>
        </p:nvPicPr>
        <p:blipFill>
          <a:blip r:embed="rId3"/>
          <a:stretch>
            <a:fillRect/>
          </a:stretch>
        </p:blipFill>
        <p:spPr>
          <a:xfrm>
            <a:off x="-21010" y="0"/>
            <a:ext cx="12234019" cy="6858000"/>
          </a:xfrm>
          <a:prstGeom prst="rect">
            <a:avLst/>
          </a:prstGeom>
        </p:spPr>
      </p:pic>
    </p:spTree>
    <p:extLst>
      <p:ext uri="{BB962C8B-B14F-4D97-AF65-F5344CB8AC3E}">
        <p14:creationId xmlns:p14="http://schemas.microsoft.com/office/powerpoint/2010/main" val="286825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E09E13-B479-A80B-FAA1-3711AFF1FB0F}"/>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E75101DB-1838-22DC-E886-CC2C2DA122D2}"/>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84DBCB60-4DDD-EEBA-8A12-AD5D1EC43FED}"/>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0C561357-E07B-43A5-9F90-0770DE307DC2}"/>
              </a:ext>
            </a:extLst>
          </p:cNvPr>
          <p:cNvPicPr>
            <a:picLocks noChangeAspect="1"/>
          </p:cNvPicPr>
          <p:nvPr/>
        </p:nvPicPr>
        <p:blipFill>
          <a:blip r:embed="rId3"/>
          <a:stretch>
            <a:fillRect/>
          </a:stretch>
        </p:blipFill>
        <p:spPr>
          <a:xfrm>
            <a:off x="-21010" y="0"/>
            <a:ext cx="12234019" cy="6858000"/>
          </a:xfrm>
          <a:prstGeom prst="rect">
            <a:avLst/>
          </a:prstGeom>
        </p:spPr>
      </p:pic>
    </p:spTree>
    <p:extLst>
      <p:ext uri="{BB962C8B-B14F-4D97-AF65-F5344CB8AC3E}">
        <p14:creationId xmlns:p14="http://schemas.microsoft.com/office/powerpoint/2010/main" val="2072624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2850FE-7E8F-40C5-3BDA-DA31952E7398}"/>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928A92E0-8B54-D498-C4E7-E7DEFE8EAAC1}"/>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EF52C2DC-1FC1-6F02-B018-F1765D0B8286}"/>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4D6F3BAB-D610-CF25-E20B-0A0F7F1A8876}"/>
              </a:ext>
            </a:extLst>
          </p:cNvPr>
          <p:cNvPicPr>
            <a:picLocks noChangeAspect="1"/>
          </p:cNvPicPr>
          <p:nvPr/>
        </p:nvPicPr>
        <p:blipFill>
          <a:blip r:embed="rId3"/>
          <a:stretch>
            <a:fillRect/>
          </a:stretch>
        </p:blipFill>
        <p:spPr>
          <a:xfrm>
            <a:off x="-21010" y="0"/>
            <a:ext cx="12234019" cy="6858000"/>
          </a:xfrm>
          <a:prstGeom prst="rect">
            <a:avLst/>
          </a:prstGeom>
        </p:spPr>
      </p:pic>
    </p:spTree>
    <p:extLst>
      <p:ext uri="{BB962C8B-B14F-4D97-AF65-F5344CB8AC3E}">
        <p14:creationId xmlns:p14="http://schemas.microsoft.com/office/powerpoint/2010/main" val="3025584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t sitting on a rock looking at a river in the fog&#10;&#10;Description automatically generated">
            <a:extLst>
              <a:ext uri="{FF2B5EF4-FFF2-40B4-BE49-F238E27FC236}">
                <a16:creationId xmlns:a16="http://schemas.microsoft.com/office/drawing/2014/main" id="{C8DF7C4A-A14B-5DE0-3513-1C8EE8EF4768}"/>
              </a:ext>
            </a:extLst>
          </p:cNvPr>
          <p:cNvPicPr>
            <a:picLocks noChangeAspect="1"/>
          </p:cNvPicPr>
          <p:nvPr/>
        </p:nvPicPr>
        <p:blipFill>
          <a:blip r:embed="rId3"/>
          <a:stretch>
            <a:fillRect/>
          </a:stretch>
        </p:blipFill>
        <p:spPr>
          <a:xfrm>
            <a:off x="-203964" y="-170979"/>
            <a:ext cx="12599927" cy="7199957"/>
          </a:xfrm>
          <a:prstGeom prst="rect">
            <a:avLst/>
          </a:prstGeom>
        </p:spPr>
      </p:pic>
      <p:sp>
        <p:nvSpPr>
          <p:cNvPr id="10" name="TextBox 9">
            <a:extLst>
              <a:ext uri="{FF2B5EF4-FFF2-40B4-BE49-F238E27FC236}">
                <a16:creationId xmlns:a16="http://schemas.microsoft.com/office/drawing/2014/main" id="{D961478E-4E0F-9946-8B86-357158073073}"/>
              </a:ext>
            </a:extLst>
          </p:cNvPr>
          <p:cNvSpPr txBox="1"/>
          <p:nvPr/>
        </p:nvSpPr>
        <p:spPr>
          <a:xfrm>
            <a:off x="5373844" y="6270374"/>
            <a:ext cx="3111250" cy="523220"/>
          </a:xfrm>
          <a:prstGeom prst="rect">
            <a:avLst/>
          </a:prstGeom>
          <a:noFill/>
        </p:spPr>
        <p:txBody>
          <a:bodyPr wrap="square" rtlCol="0">
            <a:spAutoFit/>
          </a:bodyPr>
          <a:lstStyle/>
          <a:p>
            <a:r>
              <a:rPr lang="en-US" sz="2800" b="1" dirty="0">
                <a:ln>
                  <a:solidFill>
                    <a:schemeClr val="tx1"/>
                  </a:solidFill>
                </a:ln>
                <a:solidFill>
                  <a:schemeClr val="bg1"/>
                </a:solidFill>
              </a:rPr>
              <a:t>untitled17.ipynb</a:t>
            </a:r>
          </a:p>
        </p:txBody>
      </p:sp>
      <p:sp>
        <p:nvSpPr>
          <p:cNvPr id="11" name="TextBox 10">
            <a:extLst>
              <a:ext uri="{FF2B5EF4-FFF2-40B4-BE49-F238E27FC236}">
                <a16:creationId xmlns:a16="http://schemas.microsoft.com/office/drawing/2014/main" id="{ECDE3E77-F1D8-C29A-65C8-B8A37BE81D17}"/>
              </a:ext>
            </a:extLst>
          </p:cNvPr>
          <p:cNvSpPr txBox="1"/>
          <p:nvPr/>
        </p:nvSpPr>
        <p:spPr>
          <a:xfrm>
            <a:off x="3717069" y="1601552"/>
            <a:ext cx="3986604" cy="523220"/>
          </a:xfrm>
          <a:prstGeom prst="rect">
            <a:avLst/>
          </a:prstGeom>
          <a:noFill/>
        </p:spPr>
        <p:txBody>
          <a:bodyPr wrap="square" rtlCol="0">
            <a:spAutoFit/>
          </a:bodyPr>
          <a:lstStyle/>
          <a:p>
            <a:r>
              <a:rPr lang="en-US" sz="2800" b="1" dirty="0">
                <a:ln>
                  <a:solidFill>
                    <a:schemeClr val="tx1"/>
                  </a:solidFill>
                </a:ln>
                <a:solidFill>
                  <a:schemeClr val="accent6">
                    <a:lumMod val="40000"/>
                    <a:lumOff val="60000"/>
                  </a:schemeClr>
                </a:solidFill>
              </a:rPr>
              <a:t>pip install </a:t>
            </a:r>
            <a:r>
              <a:rPr lang="en-US" sz="2800" b="1" dirty="0" err="1">
                <a:ln>
                  <a:solidFill>
                    <a:schemeClr val="tx1"/>
                  </a:solidFill>
                </a:ln>
                <a:solidFill>
                  <a:schemeClr val="accent6">
                    <a:lumMod val="40000"/>
                    <a:lumOff val="60000"/>
                  </a:schemeClr>
                </a:solidFill>
              </a:rPr>
              <a:t>nobel_prize</a:t>
            </a:r>
            <a:endParaRPr lang="en-US" sz="2800" b="1" dirty="0">
              <a:ln>
                <a:solidFill>
                  <a:schemeClr val="tx1"/>
                </a:solidFill>
              </a:ln>
              <a:solidFill>
                <a:schemeClr val="accent6">
                  <a:lumMod val="40000"/>
                  <a:lumOff val="60000"/>
                </a:schemeClr>
              </a:solidFill>
            </a:endParaRPr>
          </a:p>
        </p:txBody>
      </p:sp>
      <p:sp>
        <p:nvSpPr>
          <p:cNvPr id="2" name="TextBox 1">
            <a:extLst>
              <a:ext uri="{FF2B5EF4-FFF2-40B4-BE49-F238E27FC236}">
                <a16:creationId xmlns:a16="http://schemas.microsoft.com/office/drawing/2014/main" id="{36A20216-E771-EF17-636C-FCBE561033CD}"/>
              </a:ext>
            </a:extLst>
          </p:cNvPr>
          <p:cNvSpPr txBox="1"/>
          <p:nvPr/>
        </p:nvSpPr>
        <p:spPr>
          <a:xfrm>
            <a:off x="2942865" y="2621372"/>
            <a:ext cx="3986604" cy="523220"/>
          </a:xfrm>
          <a:prstGeom prst="rect">
            <a:avLst/>
          </a:prstGeom>
          <a:noFill/>
        </p:spPr>
        <p:txBody>
          <a:bodyPr wrap="square" rtlCol="0">
            <a:spAutoFit/>
          </a:bodyPr>
          <a:lstStyle/>
          <a:p>
            <a:r>
              <a:rPr lang="en-US" sz="2800" b="1" dirty="0" err="1">
                <a:ln>
                  <a:solidFill>
                    <a:schemeClr val="tx1"/>
                  </a:solidFill>
                </a:ln>
                <a:solidFill>
                  <a:schemeClr val="bg1"/>
                </a:solidFill>
              </a:rPr>
              <a:t>uv</a:t>
            </a:r>
            <a:endParaRPr lang="en-US" sz="2800" b="1" dirty="0">
              <a:ln>
                <a:solidFill>
                  <a:schemeClr val="tx1"/>
                </a:solidFill>
              </a:ln>
              <a:solidFill>
                <a:schemeClr val="bg1"/>
              </a:solidFill>
            </a:endParaRPr>
          </a:p>
        </p:txBody>
      </p:sp>
      <p:sp>
        <p:nvSpPr>
          <p:cNvPr id="3" name="TextBox 2">
            <a:extLst>
              <a:ext uri="{FF2B5EF4-FFF2-40B4-BE49-F238E27FC236}">
                <a16:creationId xmlns:a16="http://schemas.microsoft.com/office/drawing/2014/main" id="{C5C1D25E-AACD-B681-621D-233775343983}"/>
              </a:ext>
            </a:extLst>
          </p:cNvPr>
          <p:cNvSpPr txBox="1"/>
          <p:nvPr/>
        </p:nvSpPr>
        <p:spPr>
          <a:xfrm>
            <a:off x="8409359" y="3922652"/>
            <a:ext cx="3986604" cy="523220"/>
          </a:xfrm>
          <a:prstGeom prst="rect">
            <a:avLst/>
          </a:prstGeom>
          <a:noFill/>
        </p:spPr>
        <p:txBody>
          <a:bodyPr wrap="square" rtlCol="0">
            <a:spAutoFit/>
          </a:bodyPr>
          <a:lstStyle/>
          <a:p>
            <a:r>
              <a:rPr lang="en-US" sz="2800" b="1" dirty="0">
                <a:ln>
                  <a:solidFill>
                    <a:schemeClr val="tx1"/>
                  </a:solidFill>
                </a:ln>
                <a:solidFill>
                  <a:schemeClr val="bg1"/>
                </a:solidFill>
              </a:rPr>
              <a:t>pre-commit</a:t>
            </a:r>
          </a:p>
        </p:txBody>
      </p:sp>
      <p:sp>
        <p:nvSpPr>
          <p:cNvPr id="4" name="TextBox 3">
            <a:extLst>
              <a:ext uri="{FF2B5EF4-FFF2-40B4-BE49-F238E27FC236}">
                <a16:creationId xmlns:a16="http://schemas.microsoft.com/office/drawing/2014/main" id="{10C984AC-17A8-1BF5-0F97-225AC2AB6004}"/>
              </a:ext>
            </a:extLst>
          </p:cNvPr>
          <p:cNvSpPr txBox="1"/>
          <p:nvPr/>
        </p:nvSpPr>
        <p:spPr>
          <a:xfrm>
            <a:off x="1789340" y="4230733"/>
            <a:ext cx="3986604" cy="523220"/>
          </a:xfrm>
          <a:prstGeom prst="rect">
            <a:avLst/>
          </a:prstGeom>
          <a:noFill/>
        </p:spPr>
        <p:txBody>
          <a:bodyPr wrap="square" rtlCol="0">
            <a:spAutoFit/>
          </a:bodyPr>
          <a:lstStyle/>
          <a:p>
            <a:r>
              <a:rPr lang="en-US" sz="2800" b="1" dirty="0">
                <a:ln>
                  <a:solidFill>
                    <a:schemeClr val="tx1"/>
                  </a:solidFill>
                </a:ln>
                <a:solidFill>
                  <a:schemeClr val="bg1"/>
                </a:solidFill>
              </a:rPr>
              <a:t>testing</a:t>
            </a:r>
          </a:p>
        </p:txBody>
      </p:sp>
      <p:sp>
        <p:nvSpPr>
          <p:cNvPr id="5" name="TextBox 4">
            <a:extLst>
              <a:ext uri="{FF2B5EF4-FFF2-40B4-BE49-F238E27FC236}">
                <a16:creationId xmlns:a16="http://schemas.microsoft.com/office/drawing/2014/main" id="{126F894B-07A4-94E1-18FA-FD56BE421B24}"/>
              </a:ext>
            </a:extLst>
          </p:cNvPr>
          <p:cNvSpPr txBox="1"/>
          <p:nvPr/>
        </p:nvSpPr>
        <p:spPr>
          <a:xfrm>
            <a:off x="6312322" y="2775413"/>
            <a:ext cx="3986604" cy="523220"/>
          </a:xfrm>
          <a:prstGeom prst="rect">
            <a:avLst/>
          </a:prstGeom>
          <a:noFill/>
        </p:spPr>
        <p:txBody>
          <a:bodyPr wrap="square" rtlCol="0">
            <a:spAutoFit/>
          </a:bodyPr>
          <a:lstStyle/>
          <a:p>
            <a:r>
              <a:rPr lang="en-US" sz="2800" b="1" dirty="0">
                <a:ln>
                  <a:solidFill>
                    <a:schemeClr val="tx1"/>
                  </a:solidFill>
                </a:ln>
                <a:solidFill>
                  <a:schemeClr val="bg1"/>
                </a:solidFill>
              </a:rPr>
              <a:t>docstrings</a:t>
            </a:r>
          </a:p>
        </p:txBody>
      </p:sp>
      <p:sp>
        <p:nvSpPr>
          <p:cNvPr id="8" name="TextBox 7">
            <a:extLst>
              <a:ext uri="{FF2B5EF4-FFF2-40B4-BE49-F238E27FC236}">
                <a16:creationId xmlns:a16="http://schemas.microsoft.com/office/drawing/2014/main" id="{CD1D8ADA-0FCB-F074-045D-636D497C9D7E}"/>
              </a:ext>
            </a:extLst>
          </p:cNvPr>
          <p:cNvSpPr txBox="1"/>
          <p:nvPr/>
        </p:nvSpPr>
        <p:spPr>
          <a:xfrm>
            <a:off x="3380542" y="3426052"/>
            <a:ext cx="3986604" cy="523220"/>
          </a:xfrm>
          <a:prstGeom prst="rect">
            <a:avLst/>
          </a:prstGeom>
          <a:noFill/>
        </p:spPr>
        <p:txBody>
          <a:bodyPr wrap="square" rtlCol="0">
            <a:spAutoFit/>
          </a:bodyPr>
          <a:lstStyle/>
          <a:p>
            <a:r>
              <a:rPr lang="en-US" sz="2800" b="1" dirty="0">
                <a:ln>
                  <a:solidFill>
                    <a:schemeClr val="tx1"/>
                  </a:solidFill>
                </a:ln>
                <a:solidFill>
                  <a:schemeClr val="bg1"/>
                </a:solidFill>
              </a:rPr>
              <a:t>typing</a:t>
            </a:r>
          </a:p>
        </p:txBody>
      </p:sp>
    </p:spTree>
    <p:extLst>
      <p:ext uri="{BB962C8B-B14F-4D97-AF65-F5344CB8AC3E}">
        <p14:creationId xmlns:p14="http://schemas.microsoft.com/office/powerpoint/2010/main" val="281326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 grpId="0"/>
      <p:bldP spid="3" grpId="0"/>
      <p:bldP spid="4" grpId="0"/>
      <p:bldP spid="5"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a:bodyPr>
          <a:lstStyle/>
          <a:p>
            <a:r>
              <a:rPr lang="en-US" b="1" dirty="0"/>
              <a:t>Accelerate Science Programme</a:t>
            </a:r>
          </a:p>
        </p:txBody>
      </p:sp>
      <p:sp>
        <p:nvSpPr>
          <p:cNvPr id="4" name="Text Placeholder 3"/>
          <p:cNvSpPr>
            <a:spLocks noGrp="1"/>
          </p:cNvSpPr>
          <p:nvPr>
            <p:ph type="body" sz="quarter" idx="12"/>
          </p:nvPr>
        </p:nvSpPr>
        <p:spPr/>
        <p:txBody>
          <a:bodyPr vert="horz" lIns="121920" tIns="60960" rIns="121920" bIns="60960" rtlCol="0" anchor="t">
            <a:normAutofit/>
          </a:bodyPr>
          <a:lstStyle/>
          <a:p>
            <a:pPr marL="0" indent="0" algn="ctr">
              <a:buNone/>
            </a:pPr>
            <a:r>
              <a:rPr lang="en-US" sz="2267" i="1">
                <a:solidFill>
                  <a:srgbClr val="000000"/>
                </a:solidFill>
              </a:rPr>
              <a:t>"Accelerate Science pursues research at the interface of AI and the sciences, generating new scientific insights and developing AI methods that can be deployed to advance scientific knowledge."</a:t>
            </a:r>
            <a:endParaRPr lang="en-US" i="1"/>
          </a:p>
        </p:txBody>
      </p:sp>
      <p:pic>
        <p:nvPicPr>
          <p:cNvPr id="3" name="Picture 2">
            <a:extLst>
              <a:ext uri="{FF2B5EF4-FFF2-40B4-BE49-F238E27FC236}">
                <a16:creationId xmlns:a16="http://schemas.microsoft.com/office/drawing/2014/main" id="{D2011DA7-22A1-64AB-4EDF-B582B3F81D4B}"/>
              </a:ext>
            </a:extLst>
          </p:cNvPr>
          <p:cNvPicPr>
            <a:picLocks noChangeAspect="1"/>
          </p:cNvPicPr>
          <p:nvPr/>
        </p:nvPicPr>
        <p:blipFill>
          <a:blip r:embed="rId3"/>
          <a:stretch>
            <a:fillRect/>
          </a:stretch>
        </p:blipFill>
        <p:spPr>
          <a:xfrm>
            <a:off x="4793854" y="3252068"/>
            <a:ext cx="2595609" cy="2609471"/>
          </a:xfrm>
          <a:prstGeom prst="rect">
            <a:avLst/>
          </a:prstGeom>
        </p:spPr>
      </p:pic>
    </p:spTree>
    <p:extLst>
      <p:ext uri="{BB962C8B-B14F-4D97-AF65-F5344CB8AC3E}">
        <p14:creationId xmlns:p14="http://schemas.microsoft.com/office/powerpoint/2010/main" val="1582315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a:bodyPr>
          <a:lstStyle/>
          <a:p>
            <a:r>
              <a:rPr lang="en-US" b="1" dirty="0"/>
              <a:t>Accelerate Science Programme</a:t>
            </a:r>
          </a:p>
        </p:txBody>
      </p:sp>
      <p:sp>
        <p:nvSpPr>
          <p:cNvPr id="3" name="Text Placeholder 2"/>
          <p:cNvSpPr>
            <a:spLocks noGrp="1"/>
          </p:cNvSpPr>
          <p:nvPr>
            <p:ph type="body" sz="quarter" idx="11"/>
          </p:nvPr>
        </p:nvSpPr>
        <p:spPr/>
        <p:txBody>
          <a:bodyPr vert="horz" lIns="121920" tIns="60960" rIns="121920" bIns="60960" rtlCol="0" anchor="t">
            <a:normAutofit/>
          </a:bodyPr>
          <a:lstStyle/>
          <a:p>
            <a:r>
              <a:rPr lang="en-US" dirty="0"/>
              <a:t>Workshop Goals</a:t>
            </a:r>
          </a:p>
        </p:txBody>
      </p:sp>
      <p:sp>
        <p:nvSpPr>
          <p:cNvPr id="4" name="Text Placeholder 3"/>
          <p:cNvSpPr>
            <a:spLocks noGrp="1"/>
          </p:cNvSpPr>
          <p:nvPr>
            <p:ph type="body" sz="quarter" idx="12"/>
          </p:nvPr>
        </p:nvSpPr>
        <p:spPr/>
        <p:txBody>
          <a:bodyPr vert="horz" lIns="121920" tIns="60960" rIns="121920" bIns="60960" rtlCol="0" anchor="t">
            <a:normAutofit/>
          </a:bodyPr>
          <a:lstStyle/>
          <a:p>
            <a:pPr marL="0" indent="0">
              <a:buNone/>
            </a:pPr>
            <a:r>
              <a:rPr lang="en-US" dirty="0"/>
              <a:t>We want to:</a:t>
            </a:r>
          </a:p>
          <a:p>
            <a:r>
              <a:rPr lang="en-US" dirty="0"/>
              <a:t>Support</a:t>
            </a:r>
            <a:r>
              <a:rPr lang="en-US" dirty="0">
                <a:solidFill>
                  <a:srgbClr val="404040"/>
                </a:solidFill>
              </a:rPr>
              <a:t> researchers across the university to use software in their work when required.</a:t>
            </a:r>
          </a:p>
          <a:p>
            <a:r>
              <a:rPr lang="en-US" dirty="0">
                <a:solidFill>
                  <a:srgbClr val="404040"/>
                </a:solidFill>
              </a:rPr>
              <a:t>Make best practices a core part of research</a:t>
            </a:r>
            <a:endParaRPr lang="en-US" dirty="0"/>
          </a:p>
          <a:p>
            <a:r>
              <a:rPr lang="en-US" dirty="0"/>
              <a:t>Better understand the challenges that researchers face.</a:t>
            </a:r>
          </a:p>
          <a:p>
            <a:r>
              <a:rPr lang="en-US" dirty="0"/>
              <a:t>Identify what training courses or software resources we might want the Accelerate Science Programme to create.</a:t>
            </a:r>
          </a:p>
          <a:p>
            <a:pPr lvl="1"/>
            <a:r>
              <a:rPr lang="en-US" dirty="0">
                <a:solidFill>
                  <a:srgbClr val="404040"/>
                </a:solidFill>
                <a:latin typeface="Aptos" panose="020B0004020202020204" pitchFamily="34" charset="0"/>
                <a:cs typeface="Helvetica"/>
              </a:rPr>
              <a:t>Including shared code</a:t>
            </a:r>
          </a:p>
          <a:p>
            <a:r>
              <a:rPr lang="en-US" dirty="0"/>
              <a:t>Start to build a community of like-minded researchers across the university.</a:t>
            </a:r>
          </a:p>
        </p:txBody>
      </p:sp>
    </p:spTree>
    <p:extLst>
      <p:ext uri="{BB962C8B-B14F-4D97-AF65-F5344CB8AC3E}">
        <p14:creationId xmlns:p14="http://schemas.microsoft.com/office/powerpoint/2010/main" val="1533927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a:bodyPr>
          <a:lstStyle/>
          <a:p>
            <a:r>
              <a:rPr lang="en-US" b="1" dirty="0"/>
              <a:t>Packaging and Publishing Python Software for Research</a:t>
            </a:r>
          </a:p>
        </p:txBody>
      </p:sp>
      <p:sp>
        <p:nvSpPr>
          <p:cNvPr id="3" name="Text Placeholder 2"/>
          <p:cNvSpPr>
            <a:spLocks noGrp="1"/>
          </p:cNvSpPr>
          <p:nvPr>
            <p:ph type="body" sz="quarter" idx="11"/>
          </p:nvPr>
        </p:nvSpPr>
        <p:spPr/>
        <p:txBody>
          <a:bodyPr vert="horz" lIns="121920" tIns="60960" rIns="121920" bIns="60960" rtlCol="0" anchor="t">
            <a:normAutofit/>
          </a:bodyPr>
          <a:lstStyle/>
          <a:p>
            <a:r>
              <a:rPr lang="en-US" dirty="0"/>
              <a:t>About the course</a:t>
            </a:r>
          </a:p>
        </p:txBody>
      </p:sp>
      <p:sp>
        <p:nvSpPr>
          <p:cNvPr id="4" name="Text Placeholder 3"/>
          <p:cNvSpPr>
            <a:spLocks noGrp="1"/>
          </p:cNvSpPr>
          <p:nvPr>
            <p:ph type="body" sz="quarter" idx="12"/>
          </p:nvPr>
        </p:nvSpPr>
        <p:spPr/>
        <p:txBody>
          <a:bodyPr vert="horz" lIns="121920" tIns="60960" rIns="121920" bIns="60960" rtlCol="0" anchor="t">
            <a:normAutofit/>
          </a:bodyPr>
          <a:lstStyle/>
          <a:p>
            <a:r>
              <a:rPr lang="en-US" dirty="0"/>
              <a:t>Introduction to python packaging and publishing</a:t>
            </a:r>
          </a:p>
          <a:p>
            <a:r>
              <a:rPr lang="en-US" dirty="0"/>
              <a:t>Version control and GitHub Actions</a:t>
            </a:r>
          </a:p>
          <a:p>
            <a:r>
              <a:rPr lang="en-US" dirty="0"/>
              <a:t>Testing</a:t>
            </a:r>
          </a:p>
          <a:p>
            <a:r>
              <a:rPr lang="en-US" dirty="0"/>
              <a:t>Documentation</a:t>
            </a:r>
          </a:p>
          <a:p>
            <a:r>
              <a:rPr lang="en-US" dirty="0"/>
              <a:t>CI/CD</a:t>
            </a:r>
          </a:p>
          <a:p>
            <a:pPr marL="0" indent="0">
              <a:buNone/>
            </a:pPr>
            <a:endParaRPr lang="en-US" dirty="0"/>
          </a:p>
          <a:p>
            <a:pPr marL="0" indent="0">
              <a:buNone/>
            </a:pPr>
            <a:r>
              <a:rPr lang="en-US" dirty="0"/>
              <a:t>Code and slides available on:</a:t>
            </a:r>
          </a:p>
          <a:p>
            <a:pPr marL="0" indent="0">
              <a:buNone/>
            </a:pPr>
            <a:endParaRPr lang="en-US" dirty="0"/>
          </a:p>
          <a:p>
            <a:pPr marL="0" indent="0">
              <a:buNone/>
            </a:pPr>
            <a:r>
              <a:rPr lang="en-US" dirty="0">
                <a:hlinkClick r:id="rId3"/>
              </a:rPr>
              <a:t>Accelerate Science GitHub repo</a:t>
            </a:r>
            <a:endParaRPr lang="en-US" dirty="0"/>
          </a:p>
        </p:txBody>
      </p:sp>
    </p:spTree>
    <p:extLst>
      <p:ext uri="{BB962C8B-B14F-4D97-AF65-F5344CB8AC3E}">
        <p14:creationId xmlns:p14="http://schemas.microsoft.com/office/powerpoint/2010/main" val="385288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E1B8A-DF12-1B91-E4D6-7E855AFAFF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C1CA23B-B931-1BA6-F5ED-7D82DD946D5B}"/>
              </a:ext>
            </a:extLst>
          </p:cNvPr>
          <p:cNvSpPr>
            <a:spLocks noGrp="1"/>
          </p:cNvSpPr>
          <p:nvPr>
            <p:ph type="body" sz="quarter" idx="10"/>
          </p:nvPr>
        </p:nvSpPr>
        <p:spPr/>
        <p:txBody>
          <a:bodyPr vert="horz" lIns="121920" tIns="60960" rIns="121920" bIns="60960" rtlCol="0" anchor="t">
            <a:normAutofit/>
          </a:bodyPr>
          <a:lstStyle/>
          <a:p>
            <a:r>
              <a:rPr lang="en-GB" dirty="0"/>
              <a:t>Introduction to Software Packaging and Distribution</a:t>
            </a:r>
          </a:p>
        </p:txBody>
      </p:sp>
    </p:spTree>
    <p:extLst>
      <p:ext uri="{BB962C8B-B14F-4D97-AF65-F5344CB8AC3E}">
        <p14:creationId xmlns:p14="http://schemas.microsoft.com/office/powerpoint/2010/main" val="241864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9D1987-09AD-2DED-83D4-877DB38B91EC}"/>
              </a:ext>
            </a:extLst>
          </p:cNvPr>
          <p:cNvSpPr>
            <a:spLocks noGrp="1"/>
          </p:cNvSpPr>
          <p:nvPr>
            <p:ph type="body" sz="quarter" idx="10"/>
          </p:nvPr>
        </p:nvSpPr>
        <p:spPr/>
        <p:txBody>
          <a:bodyPr/>
          <a:lstStyle/>
          <a:p>
            <a:r>
              <a:rPr lang="en-US" dirty="0"/>
              <a:t>Discussion!</a:t>
            </a:r>
          </a:p>
        </p:txBody>
      </p:sp>
      <p:sp>
        <p:nvSpPr>
          <p:cNvPr id="4" name="Text Placeholder 3">
            <a:extLst>
              <a:ext uri="{FF2B5EF4-FFF2-40B4-BE49-F238E27FC236}">
                <a16:creationId xmlns:a16="http://schemas.microsoft.com/office/drawing/2014/main" id="{7FCF7B5F-2B54-7260-D77D-E80881452997}"/>
              </a:ext>
            </a:extLst>
          </p:cNvPr>
          <p:cNvSpPr>
            <a:spLocks noGrp="1"/>
          </p:cNvSpPr>
          <p:nvPr>
            <p:ph type="body" sz="quarter" idx="12"/>
          </p:nvPr>
        </p:nvSpPr>
        <p:spPr>
          <a:xfrm>
            <a:off x="503659" y="1195754"/>
            <a:ext cx="11176000" cy="4665785"/>
          </a:xfrm>
        </p:spPr>
        <p:txBody>
          <a:bodyPr>
            <a:normAutofit lnSpcReduction="10000"/>
          </a:bodyPr>
          <a:lstStyle/>
          <a:p>
            <a:r>
              <a:rPr lang="en-US" dirty="0"/>
              <a:t>What made you sign up for this workshop?</a:t>
            </a:r>
          </a:p>
          <a:p>
            <a:pPr lvl="1"/>
            <a:r>
              <a:rPr lang="en-US" dirty="0"/>
              <a:t>Why might packaging and publishing code be useful in your work?	</a:t>
            </a:r>
          </a:p>
          <a:p>
            <a:pPr lvl="1"/>
            <a:r>
              <a:rPr lang="en-US" dirty="0"/>
              <a:t>Do you already have a project in mind you’d like to package</a:t>
            </a:r>
            <a:r>
              <a:rPr lang="en-US"/>
              <a:t>/publish?</a:t>
            </a:r>
            <a:endParaRPr lang="en-US" dirty="0"/>
          </a:p>
          <a:p>
            <a:r>
              <a:rPr lang="en-US" dirty="0"/>
              <a:t>What do you primarily work/code in?</a:t>
            </a:r>
          </a:p>
          <a:p>
            <a:pPr lvl="1"/>
            <a:r>
              <a:rPr lang="en-US" dirty="0" err="1"/>
              <a:t>Jupyter</a:t>
            </a:r>
            <a:r>
              <a:rPr lang="en-US" dirty="0"/>
              <a:t> notebooks? </a:t>
            </a:r>
            <a:r>
              <a:rPr lang="en-US" dirty="0" err="1"/>
              <a:t>VSCode</a:t>
            </a:r>
            <a:r>
              <a:rPr lang="en-US" dirty="0"/>
              <a:t>? PyCharm? Cursor? Something else?</a:t>
            </a:r>
          </a:p>
          <a:p>
            <a:r>
              <a:rPr lang="en-US" dirty="0"/>
              <a:t>Package management</a:t>
            </a:r>
          </a:p>
          <a:p>
            <a:pPr lvl="1"/>
            <a:r>
              <a:rPr lang="en-US" dirty="0"/>
              <a:t>What do you use to manage dependencies in your Python projects? </a:t>
            </a:r>
          </a:p>
          <a:p>
            <a:pPr lvl="1"/>
            <a:r>
              <a:rPr lang="en-US" dirty="0"/>
              <a:t>Pip, </a:t>
            </a:r>
            <a:r>
              <a:rPr lang="en-US" dirty="0" err="1"/>
              <a:t>conda</a:t>
            </a:r>
            <a:r>
              <a:rPr lang="en-US" dirty="0"/>
              <a:t>, poetry, </a:t>
            </a:r>
            <a:r>
              <a:rPr lang="en-US" dirty="0" err="1"/>
              <a:t>venv</a:t>
            </a:r>
            <a:r>
              <a:rPr lang="en-US" dirty="0"/>
              <a:t> .</a:t>
            </a:r>
            <a:r>
              <a:rPr lang="en-US" dirty="0" err="1"/>
              <a:t>etc</a:t>
            </a:r>
            <a:r>
              <a:rPr lang="en-US" dirty="0"/>
              <a:t>?</a:t>
            </a:r>
          </a:p>
          <a:p>
            <a:r>
              <a:rPr lang="en-US" dirty="0"/>
              <a:t>Version control</a:t>
            </a:r>
          </a:p>
          <a:p>
            <a:pPr lvl="1"/>
            <a:r>
              <a:rPr lang="en-US" dirty="0"/>
              <a:t>What do you know about version control?</a:t>
            </a:r>
          </a:p>
          <a:p>
            <a:pPr lvl="1"/>
            <a:r>
              <a:rPr lang="en-US" dirty="0"/>
              <a:t>Can you initialize a repo, commit and push to GitHub?</a:t>
            </a:r>
          </a:p>
          <a:p>
            <a:pPr lvl="1"/>
            <a:r>
              <a:rPr lang="en-US" dirty="0"/>
              <a:t>Have you worked with more advanced features like GitHub actions, pre-commit .</a:t>
            </a:r>
            <a:r>
              <a:rPr lang="en-US" dirty="0" err="1"/>
              <a:t>etc</a:t>
            </a:r>
            <a:r>
              <a:rPr lang="en-US" dirty="0"/>
              <a:t>?</a:t>
            </a:r>
          </a:p>
          <a:p>
            <a:r>
              <a:rPr lang="en-US" dirty="0"/>
              <a:t>Code sharing / publication</a:t>
            </a:r>
          </a:p>
          <a:p>
            <a:pPr lvl="1"/>
            <a:r>
              <a:rPr lang="en-US" dirty="0"/>
              <a:t>Have you ever released Python code? For example, have you included a GitHub link in a research paper?</a:t>
            </a:r>
          </a:p>
          <a:p>
            <a:pPr lvl="1"/>
            <a:r>
              <a:rPr lang="en-US" dirty="0"/>
              <a:t>How do you usually share Python code with collaborators?</a:t>
            </a:r>
          </a:p>
        </p:txBody>
      </p:sp>
    </p:spTree>
    <p:extLst>
      <p:ext uri="{BB962C8B-B14F-4D97-AF65-F5344CB8AC3E}">
        <p14:creationId xmlns:p14="http://schemas.microsoft.com/office/powerpoint/2010/main" val="3144730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a:bodyPr>
          <a:lstStyle/>
          <a:p>
            <a:r>
              <a:rPr lang="en-US" dirty="0"/>
              <a:t>Why is this important?</a:t>
            </a:r>
          </a:p>
        </p:txBody>
      </p:sp>
      <p:sp>
        <p:nvSpPr>
          <p:cNvPr id="9" name="Text Placeholder 3">
            <a:extLst>
              <a:ext uri="{FF2B5EF4-FFF2-40B4-BE49-F238E27FC236}">
                <a16:creationId xmlns:a16="http://schemas.microsoft.com/office/drawing/2014/main" id="{0B3DA66F-A952-0F53-C09C-07CAE2EF142E}"/>
              </a:ext>
            </a:extLst>
          </p:cNvPr>
          <p:cNvSpPr txBox="1">
            <a:spLocks/>
          </p:cNvSpPr>
          <p:nvPr/>
        </p:nvSpPr>
        <p:spPr>
          <a:xfrm>
            <a:off x="503659" y="1272210"/>
            <a:ext cx="10542293" cy="4589329"/>
          </a:xfrm>
          <a:prstGeom prst="rect">
            <a:avLst/>
          </a:prstGeom>
        </p:spPr>
        <p:txBody>
          <a:bodyPr vert="horz" lIns="121920" tIns="60960" rIns="121920" bIns="60960" rtlCol="0" anchor="t">
            <a:normAutofit fontScale="85000" lnSpcReduction="20000"/>
          </a:bodyPr>
          <a:lstStyle>
            <a:lvl1pPr marL="380990" indent="-380990" algn="l" defTabSz="914400" rtl="0" eaLnBrk="1" latinLnBrk="0" hangingPunct="1">
              <a:lnSpc>
                <a:spcPct val="90000"/>
              </a:lnSpc>
              <a:spcBef>
                <a:spcPts val="1000"/>
              </a:spcBef>
              <a:buClr>
                <a:srgbClr val="235EE2"/>
              </a:buClr>
              <a:buSzPct val="70000"/>
              <a:buFont typeface="Courier New"/>
              <a:buChar char="o"/>
              <a:defRPr sz="1867" kern="1200" baseline="0">
                <a:solidFill>
                  <a:schemeClr val="tx1">
                    <a:lumMod val="75000"/>
                    <a:lumOff val="25000"/>
                  </a:schemeClr>
                </a:solidFill>
                <a:latin typeface="Helvetica"/>
                <a:ea typeface="+mn-ea"/>
                <a:cs typeface="Helvetica"/>
              </a:defRPr>
            </a:lvl1pPr>
            <a:lvl2pPr marL="685800" indent="-228600" algn="l" defTabSz="914400" rtl="0" eaLnBrk="1" latinLnBrk="0" hangingPunct="1">
              <a:lnSpc>
                <a:spcPct val="90000"/>
              </a:lnSpc>
              <a:spcBef>
                <a:spcPts val="500"/>
              </a:spcBef>
              <a:buClr>
                <a:srgbClr val="235EE2"/>
              </a:buClr>
              <a:buSzPct val="70000"/>
              <a:buFont typeface="Arial" panose="020B0604020202020204" pitchFamily="34" charset="0"/>
              <a:buChar char="•"/>
              <a:defRPr sz="1600" kern="1200" baseline="0">
                <a:solidFill>
                  <a:schemeClr val="tx1">
                    <a:lumMod val="65000"/>
                    <a:lumOff val="35000"/>
                  </a:schemeClr>
                </a:solidFill>
                <a:latin typeface="Helvetica Light"/>
                <a:ea typeface="+mn-ea"/>
                <a:cs typeface="Helvetica Light"/>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a:ea typeface="+mn-ea"/>
                <a:cs typeface="Avenir Heavy"/>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0365" indent="-380365"/>
            <a:r>
              <a:rPr lang="en-US" sz="1850" dirty="0">
                <a:latin typeface="Aptos" panose="020B0004020202020204" pitchFamily="34" charset="0"/>
              </a:rPr>
              <a:t>Do No Harm</a:t>
            </a:r>
          </a:p>
          <a:p>
            <a:pPr marL="685175" lvl="1" indent="-380365"/>
            <a:r>
              <a:rPr lang="en-US" sz="1583" dirty="0"/>
              <a:t>Try not go beyond what is necessary to achieve a specific aim. Risk assessment should be used to prevent harms.</a:t>
            </a:r>
          </a:p>
          <a:p>
            <a:pPr marL="380365" indent="-380365"/>
            <a:r>
              <a:rPr lang="en-US" sz="1850" dirty="0">
                <a:latin typeface="Aptos" panose="020B0004020202020204" pitchFamily="34" charset="0"/>
              </a:rPr>
              <a:t>Safety and Security</a:t>
            </a:r>
          </a:p>
          <a:p>
            <a:pPr marL="685175" lvl="1" indent="-380365"/>
            <a:r>
              <a:rPr lang="en-US" sz="1583" dirty="0"/>
              <a:t>Vulnerabilities to attack should be addressed.</a:t>
            </a:r>
          </a:p>
          <a:p>
            <a:pPr marL="380365" indent="-380365"/>
            <a:r>
              <a:rPr lang="en-US" sz="1850" dirty="0">
                <a:latin typeface="Aptos" panose="020B0004020202020204" pitchFamily="34" charset="0"/>
              </a:rPr>
              <a:t>Privacy and protection</a:t>
            </a:r>
          </a:p>
          <a:p>
            <a:pPr marL="685175" lvl="1" indent="-380365"/>
            <a:r>
              <a:rPr lang="en-US" sz="1583" dirty="0"/>
              <a:t>Privacy must be protected throughout, and adequate data protection frameworks should be established.</a:t>
            </a:r>
          </a:p>
          <a:p>
            <a:pPr marL="380365" indent="-380365"/>
            <a:r>
              <a:rPr lang="en-US" sz="1850" dirty="0">
                <a:latin typeface="Aptos" panose="020B0004020202020204" pitchFamily="34" charset="0"/>
              </a:rPr>
              <a:t>Accountability</a:t>
            </a:r>
          </a:p>
          <a:p>
            <a:pPr marL="685175" lvl="1" indent="-380365"/>
            <a:r>
              <a:rPr lang="en-US" sz="1583" dirty="0"/>
              <a:t>All systems should be auditable and traceable.</a:t>
            </a:r>
          </a:p>
          <a:p>
            <a:pPr marL="380365" indent="-380365"/>
            <a:r>
              <a:rPr lang="en-US" sz="1850" dirty="0">
                <a:latin typeface="Aptos" panose="020B0004020202020204" pitchFamily="34" charset="0"/>
              </a:rPr>
              <a:t>Transparency and </a:t>
            </a:r>
            <a:r>
              <a:rPr lang="en-US" sz="1850" dirty="0" err="1">
                <a:latin typeface="Aptos" panose="020B0004020202020204" pitchFamily="34" charset="0"/>
              </a:rPr>
              <a:t>explainability</a:t>
            </a:r>
            <a:endParaRPr lang="en-US" sz="1850" dirty="0">
              <a:latin typeface="Aptos" panose="020B0004020202020204" pitchFamily="34" charset="0"/>
            </a:endParaRPr>
          </a:p>
          <a:p>
            <a:pPr marL="685175" lvl="1" indent="-380365"/>
            <a:r>
              <a:rPr lang="en-US" sz="1583" dirty="0"/>
              <a:t>The level of transparency and </a:t>
            </a:r>
            <a:r>
              <a:rPr lang="en-US" sz="1583" dirty="0" err="1"/>
              <a:t>explainability</a:t>
            </a:r>
            <a:r>
              <a:rPr lang="en-US" sz="1583" dirty="0"/>
              <a:t> should be appropriate so as not to conflict with privacy and safety.</a:t>
            </a:r>
          </a:p>
          <a:p>
            <a:pPr marL="380365" indent="-380365"/>
            <a:r>
              <a:rPr lang="en-US" sz="1850" dirty="0">
                <a:latin typeface="Aptos" panose="020B0004020202020204" pitchFamily="34" charset="0"/>
              </a:rPr>
              <a:t>Human-in-the-loop</a:t>
            </a:r>
          </a:p>
          <a:p>
            <a:pPr marL="685175" lvl="1" indent="-380365"/>
            <a:r>
              <a:rPr lang="en-US" sz="1583" dirty="0"/>
              <a:t>Software systems should never replace human responsibility and accountability.</a:t>
            </a:r>
          </a:p>
          <a:p>
            <a:pPr marL="380365" indent="-380365"/>
            <a:r>
              <a:rPr lang="en-US" sz="1850" dirty="0">
                <a:latin typeface="Aptos" panose="020B0004020202020204" pitchFamily="34" charset="0"/>
              </a:rPr>
              <a:t>Sustainability</a:t>
            </a:r>
          </a:p>
          <a:p>
            <a:pPr marL="685175" lvl="1" indent="-380365"/>
            <a:r>
              <a:rPr lang="en-US" sz="1583" dirty="0"/>
              <a:t>Assess the impact of your research on the environment.</a:t>
            </a:r>
          </a:p>
          <a:p>
            <a:pPr marL="380365" indent="-380365"/>
            <a:r>
              <a:rPr lang="en-US" sz="1850" dirty="0">
                <a:latin typeface="Aptos" panose="020B0004020202020204" pitchFamily="34" charset="0"/>
              </a:rPr>
              <a:t>Awareness</a:t>
            </a:r>
          </a:p>
          <a:p>
            <a:pPr marL="685175" lvl="1" indent="-380365"/>
            <a:r>
              <a:rPr lang="en-US" sz="1583" dirty="0"/>
              <a:t>Public understanding of AI and data should be promoted wherever possible</a:t>
            </a:r>
          </a:p>
          <a:p>
            <a:pPr marL="380365" indent="-380365"/>
            <a:r>
              <a:rPr lang="en-US" sz="1850" dirty="0">
                <a:latin typeface="Aptos" panose="020B0004020202020204" pitchFamily="34" charset="0"/>
              </a:rPr>
              <a:t>Fairness</a:t>
            </a:r>
          </a:p>
          <a:p>
            <a:pPr marL="685175" lvl="1" indent="-380365"/>
            <a:r>
              <a:rPr lang="en-US" sz="1583" dirty="0"/>
              <a:t>Research should promote social justice, fairness, non-discrimination, and inclusivity.</a:t>
            </a:r>
          </a:p>
          <a:p>
            <a:pPr marL="380365" indent="-380365"/>
            <a:endParaRPr lang="en-US" sz="1850" dirty="0">
              <a:latin typeface="Aptos" panose="020B0004020202020204" pitchFamily="34" charset="0"/>
            </a:endParaRPr>
          </a:p>
        </p:txBody>
      </p:sp>
      <p:sp>
        <p:nvSpPr>
          <p:cNvPr id="3" name="TextBox 2">
            <a:extLst>
              <a:ext uri="{FF2B5EF4-FFF2-40B4-BE49-F238E27FC236}">
                <a16:creationId xmlns:a16="http://schemas.microsoft.com/office/drawing/2014/main" id="{185DDA8F-0119-8905-19D9-230566668D9F}"/>
              </a:ext>
            </a:extLst>
          </p:cNvPr>
          <p:cNvSpPr txBox="1"/>
          <p:nvPr/>
        </p:nvSpPr>
        <p:spPr>
          <a:xfrm>
            <a:off x="2393576" y="6207597"/>
            <a:ext cx="2932791" cy="276999"/>
          </a:xfrm>
          <a:prstGeom prst="rect">
            <a:avLst/>
          </a:prstGeom>
          <a:noFill/>
        </p:spPr>
        <p:txBody>
          <a:bodyPr wrap="none" rtlCol="0">
            <a:spAutoFit/>
          </a:bodyPr>
          <a:lstStyle/>
          <a:p>
            <a:r>
              <a:rPr lang="en-US" sz="1200" dirty="0">
                <a:hlinkClick r:id="rId3"/>
              </a:rPr>
              <a:t>UNESCO: A Human Rights Approach to AI</a:t>
            </a:r>
            <a:endParaRPr lang="en-US" sz="1200" dirty="0"/>
          </a:p>
        </p:txBody>
      </p:sp>
    </p:spTree>
    <p:extLst>
      <p:ext uri="{BB962C8B-B14F-4D97-AF65-F5344CB8AC3E}">
        <p14:creationId xmlns:p14="http://schemas.microsoft.com/office/powerpoint/2010/main" val="275395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xEl>
                                              <p:pRg st="14" end="1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16" end="16"/>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a:bodyPr>
          <a:lstStyle/>
          <a:p>
            <a:r>
              <a:rPr lang="en-US" dirty="0"/>
              <a:t>The FAIR Principles for Research Software</a:t>
            </a:r>
          </a:p>
        </p:txBody>
      </p:sp>
      <p:sp>
        <p:nvSpPr>
          <p:cNvPr id="9" name="Text Placeholder 3">
            <a:extLst>
              <a:ext uri="{FF2B5EF4-FFF2-40B4-BE49-F238E27FC236}">
                <a16:creationId xmlns:a16="http://schemas.microsoft.com/office/drawing/2014/main" id="{0B3DA66F-A952-0F53-C09C-07CAE2EF142E}"/>
              </a:ext>
            </a:extLst>
          </p:cNvPr>
          <p:cNvSpPr txBox="1">
            <a:spLocks/>
          </p:cNvSpPr>
          <p:nvPr/>
        </p:nvSpPr>
        <p:spPr>
          <a:xfrm>
            <a:off x="503659" y="1272210"/>
            <a:ext cx="10542293" cy="4589329"/>
          </a:xfrm>
          <a:prstGeom prst="rect">
            <a:avLst/>
          </a:prstGeom>
        </p:spPr>
        <p:txBody>
          <a:bodyPr vert="horz" lIns="121920" tIns="60960" rIns="121920" bIns="60960" rtlCol="0" anchor="t">
            <a:normAutofit/>
          </a:bodyPr>
          <a:lstStyle>
            <a:lvl1pPr marL="380990" indent="-380990" algn="l" defTabSz="914400" rtl="0" eaLnBrk="1" latinLnBrk="0" hangingPunct="1">
              <a:lnSpc>
                <a:spcPct val="90000"/>
              </a:lnSpc>
              <a:spcBef>
                <a:spcPts val="1000"/>
              </a:spcBef>
              <a:buClr>
                <a:srgbClr val="235EE2"/>
              </a:buClr>
              <a:buSzPct val="70000"/>
              <a:buFont typeface="Courier New"/>
              <a:buChar char="o"/>
              <a:defRPr sz="1867" kern="1200" baseline="0">
                <a:solidFill>
                  <a:schemeClr val="tx1">
                    <a:lumMod val="75000"/>
                    <a:lumOff val="25000"/>
                  </a:schemeClr>
                </a:solidFill>
                <a:latin typeface="Helvetica"/>
                <a:ea typeface="+mn-ea"/>
                <a:cs typeface="Helvetica"/>
              </a:defRPr>
            </a:lvl1pPr>
            <a:lvl2pPr marL="685800" indent="-228600" algn="l" defTabSz="914400" rtl="0" eaLnBrk="1" latinLnBrk="0" hangingPunct="1">
              <a:lnSpc>
                <a:spcPct val="90000"/>
              </a:lnSpc>
              <a:spcBef>
                <a:spcPts val="500"/>
              </a:spcBef>
              <a:buClr>
                <a:srgbClr val="235EE2"/>
              </a:buClr>
              <a:buSzPct val="70000"/>
              <a:buFont typeface="Arial" panose="020B0604020202020204" pitchFamily="34" charset="0"/>
              <a:buChar char="•"/>
              <a:defRPr sz="1600" kern="1200" baseline="0">
                <a:solidFill>
                  <a:schemeClr val="tx1">
                    <a:lumMod val="65000"/>
                    <a:lumOff val="35000"/>
                  </a:schemeClr>
                </a:solidFill>
                <a:latin typeface="Helvetica Light"/>
                <a:ea typeface="+mn-ea"/>
                <a:cs typeface="Helvetica Light"/>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a:ea typeface="+mn-ea"/>
                <a:cs typeface="Avenir Heavy"/>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50" b="1" dirty="0">
                <a:latin typeface="Aptos" panose="020B0004020202020204" pitchFamily="34" charset="0"/>
              </a:rPr>
              <a:t>Findable</a:t>
            </a:r>
          </a:p>
          <a:p>
            <a:pPr lvl="1"/>
            <a:r>
              <a:rPr lang="en-US" sz="1583" dirty="0"/>
              <a:t>Easy for humans and machines to find</a:t>
            </a:r>
          </a:p>
          <a:p>
            <a:pPr lvl="1"/>
            <a:r>
              <a:rPr lang="en-US" sz="1583" dirty="0"/>
              <a:t>Clearly versioned</a:t>
            </a:r>
          </a:p>
          <a:p>
            <a:pPr marL="0" indent="0">
              <a:buNone/>
            </a:pPr>
            <a:r>
              <a:rPr lang="en-US" sz="1850" b="1" dirty="0">
                <a:latin typeface="Aptos" panose="020B0004020202020204" pitchFamily="34" charset="0"/>
              </a:rPr>
              <a:t>Accessible</a:t>
            </a:r>
          </a:p>
          <a:p>
            <a:pPr lvl="1"/>
            <a:r>
              <a:rPr lang="en-US" sz="1583" dirty="0"/>
              <a:t>Easily retrievable via standardized protocols</a:t>
            </a:r>
          </a:p>
          <a:p>
            <a:pPr lvl="1"/>
            <a:r>
              <a:rPr lang="en-US" sz="1583" dirty="0"/>
              <a:t>Open, free and universally implementable</a:t>
            </a:r>
          </a:p>
          <a:p>
            <a:pPr marL="0" indent="0">
              <a:buNone/>
            </a:pPr>
            <a:r>
              <a:rPr lang="en-US" sz="1850" b="1" dirty="0">
                <a:latin typeface="Aptos" panose="020B0004020202020204" pitchFamily="34" charset="0"/>
              </a:rPr>
              <a:t>Interoperable</a:t>
            </a:r>
          </a:p>
          <a:p>
            <a:pPr lvl="1"/>
            <a:r>
              <a:rPr lang="en-US" sz="1583" dirty="0"/>
              <a:t>Uses data in a way that meets community standards</a:t>
            </a:r>
          </a:p>
          <a:p>
            <a:pPr lvl="1"/>
            <a:r>
              <a:rPr lang="en-US" sz="1583" dirty="0"/>
              <a:t>References appropriately</a:t>
            </a:r>
          </a:p>
          <a:p>
            <a:pPr marL="0" indent="0">
              <a:buNone/>
            </a:pPr>
            <a:r>
              <a:rPr lang="en-US" sz="1850" b="1" dirty="0">
                <a:latin typeface="Aptos" panose="020B0004020202020204" pitchFamily="34" charset="0"/>
              </a:rPr>
              <a:t>Reusable</a:t>
            </a:r>
          </a:p>
          <a:p>
            <a:pPr lvl="1"/>
            <a:r>
              <a:rPr lang="en-US" sz="1583" dirty="0"/>
              <a:t>Clear licensing</a:t>
            </a:r>
          </a:p>
          <a:p>
            <a:pPr lvl="1"/>
            <a:r>
              <a:rPr lang="en-US" sz="1583" dirty="0"/>
              <a:t>Can be understood, built upon, modified, or incorporated into other software</a:t>
            </a:r>
          </a:p>
        </p:txBody>
      </p:sp>
      <p:sp>
        <p:nvSpPr>
          <p:cNvPr id="3" name="TextBox 2">
            <a:extLst>
              <a:ext uri="{FF2B5EF4-FFF2-40B4-BE49-F238E27FC236}">
                <a16:creationId xmlns:a16="http://schemas.microsoft.com/office/drawing/2014/main" id="{185DDA8F-0119-8905-19D9-230566668D9F}"/>
              </a:ext>
            </a:extLst>
          </p:cNvPr>
          <p:cNvSpPr txBox="1"/>
          <p:nvPr/>
        </p:nvSpPr>
        <p:spPr>
          <a:xfrm>
            <a:off x="2393576" y="6207597"/>
            <a:ext cx="3657861" cy="276999"/>
          </a:xfrm>
          <a:prstGeom prst="rect">
            <a:avLst/>
          </a:prstGeom>
          <a:noFill/>
        </p:spPr>
        <p:txBody>
          <a:bodyPr wrap="none" rtlCol="0">
            <a:spAutoFit/>
          </a:bodyPr>
          <a:lstStyle/>
          <a:p>
            <a:r>
              <a:rPr lang="en-US" sz="1200" dirty="0">
                <a:hlinkClick r:id="rId3"/>
              </a:rPr>
              <a:t>Introducing the FAIR Principles for research software</a:t>
            </a:r>
            <a:endParaRPr lang="en-US" sz="1200" dirty="0"/>
          </a:p>
        </p:txBody>
      </p:sp>
    </p:spTree>
    <p:extLst>
      <p:ext uri="{BB962C8B-B14F-4D97-AF65-F5344CB8AC3E}">
        <p14:creationId xmlns:p14="http://schemas.microsoft.com/office/powerpoint/2010/main" val="158286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a:bodyPr>
          <a:lstStyle/>
          <a:p>
            <a:r>
              <a:rPr lang="en-US" dirty="0"/>
              <a:t>Why is this important?</a:t>
            </a:r>
          </a:p>
        </p:txBody>
      </p:sp>
      <p:sp>
        <p:nvSpPr>
          <p:cNvPr id="9" name="Text Placeholder 3">
            <a:extLst>
              <a:ext uri="{FF2B5EF4-FFF2-40B4-BE49-F238E27FC236}">
                <a16:creationId xmlns:a16="http://schemas.microsoft.com/office/drawing/2014/main" id="{0B3DA66F-A952-0F53-C09C-07CAE2EF142E}"/>
              </a:ext>
            </a:extLst>
          </p:cNvPr>
          <p:cNvSpPr txBox="1">
            <a:spLocks/>
          </p:cNvSpPr>
          <p:nvPr/>
        </p:nvSpPr>
        <p:spPr>
          <a:xfrm>
            <a:off x="503659" y="1272210"/>
            <a:ext cx="10542293" cy="4589329"/>
          </a:xfrm>
          <a:prstGeom prst="rect">
            <a:avLst/>
          </a:prstGeom>
        </p:spPr>
        <p:txBody>
          <a:bodyPr vert="horz" lIns="121920" tIns="60960" rIns="121920" bIns="60960" rtlCol="0" anchor="t">
            <a:normAutofit/>
          </a:bodyPr>
          <a:lstStyle>
            <a:lvl1pPr marL="380990" indent="-380990" algn="l" defTabSz="914400" rtl="0" eaLnBrk="1" latinLnBrk="0" hangingPunct="1">
              <a:lnSpc>
                <a:spcPct val="90000"/>
              </a:lnSpc>
              <a:spcBef>
                <a:spcPts val="1000"/>
              </a:spcBef>
              <a:buClr>
                <a:srgbClr val="235EE2"/>
              </a:buClr>
              <a:buSzPct val="70000"/>
              <a:buFont typeface="Courier New"/>
              <a:buChar char="o"/>
              <a:defRPr sz="1867" kern="1200" baseline="0">
                <a:solidFill>
                  <a:schemeClr val="tx1">
                    <a:lumMod val="75000"/>
                    <a:lumOff val="25000"/>
                  </a:schemeClr>
                </a:solidFill>
                <a:latin typeface="Helvetica"/>
                <a:ea typeface="+mn-ea"/>
                <a:cs typeface="Helvetica"/>
              </a:defRPr>
            </a:lvl1pPr>
            <a:lvl2pPr marL="685800" indent="-228600" algn="l" defTabSz="914400" rtl="0" eaLnBrk="1" latinLnBrk="0" hangingPunct="1">
              <a:lnSpc>
                <a:spcPct val="90000"/>
              </a:lnSpc>
              <a:spcBef>
                <a:spcPts val="500"/>
              </a:spcBef>
              <a:buClr>
                <a:srgbClr val="235EE2"/>
              </a:buClr>
              <a:buSzPct val="70000"/>
              <a:buFont typeface="Arial" panose="020B0604020202020204" pitchFamily="34" charset="0"/>
              <a:buChar char="•"/>
              <a:defRPr sz="1600" kern="1200" baseline="0">
                <a:solidFill>
                  <a:schemeClr val="tx1">
                    <a:lumMod val="65000"/>
                    <a:lumOff val="35000"/>
                  </a:schemeClr>
                </a:solidFill>
                <a:latin typeface="Helvetica Light"/>
                <a:ea typeface="+mn-ea"/>
                <a:cs typeface="Helvetica Light"/>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a:ea typeface="+mn-ea"/>
                <a:cs typeface="Avenir Heavy"/>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50" dirty="0">
                <a:latin typeface="Aptos" panose="020B0004020202020204" pitchFamily="34" charset="0"/>
              </a:rPr>
              <a:t>What about some of the immediate impacts on us and our research?</a:t>
            </a:r>
          </a:p>
          <a:p>
            <a:pPr marL="0" indent="0">
              <a:buNone/>
            </a:pPr>
            <a:endParaRPr lang="en-US" sz="1850" dirty="0">
              <a:latin typeface="Aptos" panose="020B0004020202020204" pitchFamily="34" charset="0"/>
            </a:endParaRPr>
          </a:p>
          <a:p>
            <a:pPr marL="380365" indent="-380365"/>
            <a:r>
              <a:rPr lang="en-US" sz="1850" dirty="0">
                <a:latin typeface="Aptos" panose="020B0004020202020204" pitchFamily="34" charset="0"/>
              </a:rPr>
              <a:t>Help to mitigate erroneous work.</a:t>
            </a:r>
          </a:p>
          <a:p>
            <a:pPr marL="380365" indent="-380365"/>
            <a:r>
              <a:rPr lang="en-US" sz="1850" dirty="0">
                <a:latin typeface="Aptos" panose="020B0004020202020204" pitchFamily="34" charset="0"/>
              </a:rPr>
              <a:t>This lessens the chance of retractions.</a:t>
            </a:r>
          </a:p>
          <a:p>
            <a:pPr marL="380365" indent="-380365"/>
            <a:r>
              <a:rPr lang="en-US" sz="1850" dirty="0">
                <a:latin typeface="Aptos" panose="020B0004020202020204" pitchFamily="34" charset="0"/>
              </a:rPr>
              <a:t>Gives us integrity.</a:t>
            </a:r>
          </a:p>
          <a:p>
            <a:pPr marL="380365" indent="-380365"/>
            <a:r>
              <a:rPr lang="en-US" sz="1850" dirty="0">
                <a:latin typeface="Aptos" panose="020B0004020202020204" pitchFamily="34" charset="0"/>
              </a:rPr>
              <a:t>Allows others to reproduce and build on our work.</a:t>
            </a:r>
          </a:p>
          <a:p>
            <a:pPr marL="380365" indent="-380365"/>
            <a:r>
              <a:rPr lang="en-US" sz="1850" dirty="0">
                <a:latin typeface="Aptos" panose="020B0004020202020204" pitchFamily="34" charset="0"/>
              </a:rPr>
              <a:t>Faster onboarding of new students/researchers</a:t>
            </a:r>
          </a:p>
        </p:txBody>
      </p:sp>
    </p:spTree>
    <p:extLst>
      <p:ext uri="{BB962C8B-B14F-4D97-AF65-F5344CB8AC3E}">
        <p14:creationId xmlns:p14="http://schemas.microsoft.com/office/powerpoint/2010/main" val="276697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dirty="0"/>
              <a:t>What does it mean to “publish” software</a:t>
            </a:r>
          </a:p>
          <a:p>
            <a:endParaRPr lang="en-US" dirty="0"/>
          </a:p>
          <a:p>
            <a:endParaRPr lang="en-US" dirty="0"/>
          </a:p>
        </p:txBody>
      </p:sp>
      <p:sp>
        <p:nvSpPr>
          <p:cNvPr id="3" name="TextBox 2">
            <a:extLst>
              <a:ext uri="{FF2B5EF4-FFF2-40B4-BE49-F238E27FC236}">
                <a16:creationId xmlns:a16="http://schemas.microsoft.com/office/drawing/2014/main" id="{647DFCC2-FF60-925D-7D59-79058319894C}"/>
              </a:ext>
            </a:extLst>
          </p:cNvPr>
          <p:cNvSpPr txBox="1"/>
          <p:nvPr/>
        </p:nvSpPr>
        <p:spPr>
          <a:xfrm>
            <a:off x="503659" y="1378381"/>
            <a:ext cx="11176000" cy="3477875"/>
          </a:xfrm>
          <a:prstGeom prst="rect">
            <a:avLst/>
          </a:prstGeom>
          <a:noFill/>
        </p:spPr>
        <p:txBody>
          <a:bodyPr wrap="square" rtlCol="0">
            <a:spAutoFit/>
          </a:bodyPr>
          <a:lstStyle/>
          <a:p>
            <a:pPr marL="342900" indent="-342900">
              <a:buFont typeface="Arial" panose="020B0604020202020204" pitchFamily="34" charset="0"/>
              <a:buChar char="•"/>
            </a:pPr>
            <a:r>
              <a:rPr lang="en-GB" sz="2000" dirty="0">
                <a:effectLst/>
              </a:rPr>
              <a:t>Most researchers assume publishing means making your code repository public on platforms like </a:t>
            </a:r>
            <a:r>
              <a:rPr lang="en-GB" sz="2000" dirty="0"/>
              <a:t>G</a:t>
            </a:r>
            <a:r>
              <a:rPr lang="en-GB" sz="2000" dirty="0">
                <a:effectLst/>
              </a:rPr>
              <a:t>itHub</a:t>
            </a:r>
            <a:r>
              <a:rPr lang="en-GB" sz="2000" dirty="0"/>
              <a:t>.</a:t>
            </a:r>
          </a:p>
          <a:p>
            <a:pPr marL="342900" indent="-342900">
              <a:buFont typeface="Arial" panose="020B0604020202020204" pitchFamily="34" charset="0"/>
              <a:buChar char="•"/>
            </a:pPr>
            <a:endParaRPr lang="en-GB" sz="2000" dirty="0">
              <a:effectLst/>
            </a:endParaRPr>
          </a:p>
          <a:p>
            <a:pPr marL="342900" indent="-342900">
              <a:buFont typeface="Arial" panose="020B0604020202020204" pitchFamily="34" charset="0"/>
              <a:buChar char="•"/>
            </a:pPr>
            <a:r>
              <a:rPr lang="en-GB" sz="2000" dirty="0">
                <a:effectLst/>
              </a:rPr>
              <a:t>This is certainly one of the most common forms of publishing software, and allows you to cover most of the benefits of publishing that we stated.</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effectLst/>
              </a:rPr>
              <a:t>However, there are more sophisticated forms of publishing that can provide you with a much better chance of obtaining those advantages.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effectLst/>
              </a:rPr>
              <a:t>To clarify this point, I like to think of publishing as a hierarchy of publishing levels, each extra level provides you with a better chance of increasing the exposure and impact of your software. </a:t>
            </a:r>
          </a:p>
        </p:txBody>
      </p:sp>
    </p:spTree>
    <p:extLst>
      <p:ext uri="{BB962C8B-B14F-4D97-AF65-F5344CB8AC3E}">
        <p14:creationId xmlns:p14="http://schemas.microsoft.com/office/powerpoint/2010/main" val="3588409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dirty="0"/>
              <a:t>Publishing hierarchy</a:t>
            </a:r>
          </a:p>
          <a:p>
            <a:endParaRPr lang="en-US" dirty="0"/>
          </a:p>
          <a:p>
            <a:endParaRPr lang="en-US" dirty="0"/>
          </a:p>
        </p:txBody>
      </p:sp>
      <p:sp>
        <p:nvSpPr>
          <p:cNvPr id="3" name="TextBox 2">
            <a:extLst>
              <a:ext uri="{FF2B5EF4-FFF2-40B4-BE49-F238E27FC236}">
                <a16:creationId xmlns:a16="http://schemas.microsoft.com/office/drawing/2014/main" id="{647DFCC2-FF60-925D-7D59-79058319894C}"/>
              </a:ext>
            </a:extLst>
          </p:cNvPr>
          <p:cNvSpPr txBox="1"/>
          <p:nvPr/>
        </p:nvSpPr>
        <p:spPr>
          <a:xfrm>
            <a:off x="503659" y="1109440"/>
            <a:ext cx="11176000" cy="5016758"/>
          </a:xfrm>
          <a:prstGeom prst="rect">
            <a:avLst/>
          </a:prstGeom>
          <a:noFill/>
        </p:spPr>
        <p:txBody>
          <a:bodyPr wrap="square" rtlCol="0">
            <a:spAutoFit/>
          </a:bodyPr>
          <a:lstStyle/>
          <a:p>
            <a:pPr marL="342900" indent="-342900">
              <a:buFont typeface="Arial" panose="020B0604020202020204" pitchFamily="34" charset="0"/>
              <a:buChar char="•"/>
            </a:pPr>
            <a:r>
              <a:rPr lang="en-GB" sz="2000" b="1" dirty="0">
                <a:solidFill>
                  <a:srgbClr val="0070C0"/>
                </a:solidFill>
                <a:effectLst/>
              </a:rPr>
              <a:t>Level 0</a:t>
            </a:r>
            <a:r>
              <a:rPr lang="en-GB" sz="2000" dirty="0">
                <a:effectLst/>
              </a:rPr>
              <a:t>: Barely doing anything. Email your source code to your colleagues/collaborators with explanations of how to run it.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b="1" dirty="0">
                <a:solidFill>
                  <a:srgbClr val="0070C0"/>
                </a:solidFill>
                <a:effectLst/>
              </a:rPr>
              <a:t>Level 1</a:t>
            </a:r>
            <a:r>
              <a:rPr lang="en-GB" sz="2000" dirty="0">
                <a:effectLst/>
              </a:rPr>
              <a:t>: Maintain your source code publicly on GitHub under </a:t>
            </a:r>
            <a:r>
              <a:rPr lang="en-GB" sz="2000" dirty="0"/>
              <a:t>some </a:t>
            </a:r>
            <a:r>
              <a:rPr lang="en-GB" sz="2000" dirty="0">
                <a:effectLst/>
              </a:rPr>
              <a:t>licence. This is an important level as it now means others can fork, modify, and extend your work. However, one limitation is that most potential users of your pipeline might not be interested in your code, they just want to use your </a:t>
            </a:r>
            <a:r>
              <a:rPr lang="en-GB" sz="2000" dirty="0"/>
              <a:t>software</a:t>
            </a:r>
            <a:r>
              <a:rPr lang="en-GB" sz="2000" dirty="0">
                <a:effectLst/>
              </a:rPr>
              <a:t> rather than extend it.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b="1" dirty="0">
                <a:solidFill>
                  <a:srgbClr val="0070C0"/>
                </a:solidFill>
              </a:rPr>
              <a:t>Level 2</a:t>
            </a:r>
            <a:r>
              <a:rPr lang="en-GB" sz="2000" dirty="0"/>
              <a:t>: Publish to build repository like </a:t>
            </a:r>
            <a:r>
              <a:rPr lang="en-GB" sz="2000" dirty="0" err="1"/>
              <a:t>PyPI</a:t>
            </a:r>
            <a:r>
              <a:rPr lang="en-GB" sz="2000" dirty="0"/>
              <a:t> or </a:t>
            </a:r>
            <a:r>
              <a:rPr lang="en-GB" sz="2000" dirty="0" err="1"/>
              <a:t>Conda</a:t>
            </a:r>
            <a:r>
              <a:rPr lang="en-GB" sz="2000" dirty="0"/>
              <a:t> Forge.</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b="1" dirty="0">
                <a:solidFill>
                  <a:srgbClr val="0070C0"/>
                </a:solidFill>
              </a:rPr>
              <a:t>Level 3</a:t>
            </a:r>
            <a:r>
              <a:rPr lang="en-GB" sz="2000" dirty="0"/>
              <a:t>: Publish documentation with something like Read the Docs or </a:t>
            </a:r>
            <a:r>
              <a:rPr lang="en-GB" sz="2000" dirty="0" err="1"/>
              <a:t>MkDocs</a:t>
            </a:r>
            <a:r>
              <a:rPr lang="en-GB" sz="2000" dirty="0"/>
              <a: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b="1" dirty="0">
                <a:solidFill>
                  <a:srgbClr val="0070C0"/>
                </a:solidFill>
              </a:rPr>
              <a:t>Level 4</a:t>
            </a:r>
            <a:r>
              <a:rPr lang="en-GB" sz="2000" dirty="0"/>
              <a:t>: Automate all of the above!</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b="1" dirty="0">
                <a:solidFill>
                  <a:srgbClr val="0070C0"/>
                </a:solidFill>
              </a:rPr>
              <a:t>Level 5</a:t>
            </a:r>
            <a:r>
              <a:rPr lang="en-GB" sz="2000" dirty="0"/>
              <a:t>: All of the above, and publish your pipeline or software in a software-specific journal like the Journal for Open Source Software (JOSS).</a:t>
            </a:r>
            <a:endParaRPr lang="en-GB" sz="2000" dirty="0">
              <a:effectLst/>
            </a:endParaRPr>
          </a:p>
        </p:txBody>
      </p:sp>
    </p:spTree>
    <p:extLst>
      <p:ext uri="{BB962C8B-B14F-4D97-AF65-F5344CB8AC3E}">
        <p14:creationId xmlns:p14="http://schemas.microsoft.com/office/powerpoint/2010/main" val="263237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6C5711-5271-1560-775E-5114E2840311}"/>
              </a:ext>
            </a:extLst>
          </p:cNvPr>
          <p:cNvSpPr>
            <a:spLocks noGrp="1"/>
          </p:cNvSpPr>
          <p:nvPr>
            <p:ph type="body" sz="quarter" idx="10"/>
          </p:nvPr>
        </p:nvSpPr>
        <p:spPr/>
        <p:txBody>
          <a:bodyPr/>
          <a:lstStyle/>
          <a:p>
            <a:r>
              <a:rPr lang="en-US" dirty="0"/>
              <a:t>The Workshop</a:t>
            </a:r>
          </a:p>
        </p:txBody>
      </p:sp>
      <p:sp>
        <p:nvSpPr>
          <p:cNvPr id="3" name="Text Placeholder 2">
            <a:extLst>
              <a:ext uri="{FF2B5EF4-FFF2-40B4-BE49-F238E27FC236}">
                <a16:creationId xmlns:a16="http://schemas.microsoft.com/office/drawing/2014/main" id="{C211C692-5C86-187E-EF20-61E53B60463F}"/>
              </a:ext>
            </a:extLst>
          </p:cNvPr>
          <p:cNvSpPr>
            <a:spLocks noGrp="1"/>
          </p:cNvSpPr>
          <p:nvPr>
            <p:ph type="body" sz="quarter" idx="11"/>
          </p:nvPr>
        </p:nvSpPr>
        <p:spPr/>
        <p:txBody>
          <a:bodyPr/>
          <a:lstStyle/>
          <a:p>
            <a:r>
              <a:rPr lang="en-US" dirty="0"/>
              <a:t>The workshop aims to take a notebook and:</a:t>
            </a:r>
          </a:p>
        </p:txBody>
      </p:sp>
      <p:sp>
        <p:nvSpPr>
          <p:cNvPr id="4" name="Text Placeholder 3">
            <a:extLst>
              <a:ext uri="{FF2B5EF4-FFF2-40B4-BE49-F238E27FC236}">
                <a16:creationId xmlns:a16="http://schemas.microsoft.com/office/drawing/2014/main" id="{1CFD4A1A-43D4-DA34-F4EE-5A302A3A8BBC}"/>
              </a:ext>
            </a:extLst>
          </p:cNvPr>
          <p:cNvSpPr>
            <a:spLocks noGrp="1"/>
          </p:cNvSpPr>
          <p:nvPr>
            <p:ph type="body" sz="quarter" idx="12"/>
          </p:nvPr>
        </p:nvSpPr>
        <p:spPr/>
        <p:txBody>
          <a:bodyPr/>
          <a:lstStyle/>
          <a:p>
            <a:r>
              <a:rPr lang="en-US" dirty="0"/>
              <a:t>Refactor to a canonical python package structure and manage with UV</a:t>
            </a:r>
          </a:p>
          <a:p>
            <a:r>
              <a:rPr lang="en-US" dirty="0"/>
              <a:t>Build a command line interface</a:t>
            </a:r>
          </a:p>
          <a:p>
            <a:pPr lvl="1"/>
            <a:r>
              <a:rPr lang="en-US" dirty="0"/>
              <a:t>Great for ease of use – we can run a bash command, supply some arguments or config file</a:t>
            </a:r>
          </a:p>
          <a:p>
            <a:pPr lvl="1"/>
            <a:r>
              <a:rPr lang="en-US" dirty="0"/>
              <a:t>If you’re running software on the HPC via </a:t>
            </a:r>
            <a:r>
              <a:rPr lang="en-US" dirty="0" err="1"/>
              <a:t>slurm</a:t>
            </a:r>
            <a:r>
              <a:rPr lang="en-US" dirty="0"/>
              <a:t>, it makes life easier</a:t>
            </a:r>
          </a:p>
          <a:p>
            <a:r>
              <a:rPr lang="en-US" dirty="0"/>
              <a:t>Add a basic test suite</a:t>
            </a:r>
          </a:p>
          <a:p>
            <a:r>
              <a:rPr lang="en-US" dirty="0"/>
              <a:t>Make our package pip installable with documentation</a:t>
            </a:r>
          </a:p>
          <a:p>
            <a:r>
              <a:rPr lang="en-US" dirty="0"/>
              <a:t>Automate our testing and publishing process</a:t>
            </a:r>
          </a:p>
        </p:txBody>
      </p:sp>
    </p:spTree>
    <p:extLst>
      <p:ext uri="{BB962C8B-B14F-4D97-AF65-F5344CB8AC3E}">
        <p14:creationId xmlns:p14="http://schemas.microsoft.com/office/powerpoint/2010/main" val="3396929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C1155-5AC0-6F73-1476-9E21EF32DB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3143216-45BB-B904-C2E9-793B13EC9CAC}"/>
              </a:ext>
            </a:extLst>
          </p:cNvPr>
          <p:cNvSpPr>
            <a:spLocks noGrp="1"/>
          </p:cNvSpPr>
          <p:nvPr>
            <p:ph type="body" sz="quarter" idx="10"/>
          </p:nvPr>
        </p:nvSpPr>
        <p:spPr/>
        <p:txBody>
          <a:bodyPr vert="horz" lIns="121920" tIns="60960" rIns="121920" bIns="60960" rtlCol="0" anchor="t">
            <a:normAutofit/>
          </a:bodyPr>
          <a:lstStyle/>
          <a:p>
            <a:r>
              <a:rPr lang="en-US" dirty="0"/>
              <a:t>The project we will </a:t>
            </a:r>
            <a:r>
              <a:rPr lang="en-US"/>
              <a:t>work on</a:t>
            </a:r>
            <a:endParaRPr lang="en-US" dirty="0"/>
          </a:p>
        </p:txBody>
      </p:sp>
      <p:sp>
        <p:nvSpPr>
          <p:cNvPr id="3" name="Text Placeholder 2">
            <a:extLst>
              <a:ext uri="{FF2B5EF4-FFF2-40B4-BE49-F238E27FC236}">
                <a16:creationId xmlns:a16="http://schemas.microsoft.com/office/drawing/2014/main" id="{E91CB890-49E0-A0BF-CA59-C7959A972623}"/>
              </a:ext>
            </a:extLst>
          </p:cNvPr>
          <p:cNvSpPr>
            <a:spLocks noGrp="1"/>
          </p:cNvSpPr>
          <p:nvPr>
            <p:ph type="body" sz="quarter" idx="11"/>
          </p:nvPr>
        </p:nvSpPr>
        <p:spPr/>
        <p:txBody>
          <a:bodyPr vert="horz" lIns="121920" tIns="60960" rIns="121920" bIns="60960" rtlCol="0" anchor="t">
            <a:normAutofit/>
          </a:bodyPr>
          <a:lstStyle/>
          <a:p>
            <a:r>
              <a:rPr lang="en-US" dirty="0"/>
              <a:t>Predicting cancerous tissue</a:t>
            </a:r>
          </a:p>
        </p:txBody>
      </p:sp>
      <p:sp>
        <p:nvSpPr>
          <p:cNvPr id="4" name="Text Placeholder 3">
            <a:extLst>
              <a:ext uri="{FF2B5EF4-FFF2-40B4-BE49-F238E27FC236}">
                <a16:creationId xmlns:a16="http://schemas.microsoft.com/office/drawing/2014/main" id="{73B2A682-D706-D792-29E1-F193A378E472}"/>
              </a:ext>
            </a:extLst>
          </p:cNvPr>
          <p:cNvSpPr>
            <a:spLocks noGrp="1"/>
          </p:cNvSpPr>
          <p:nvPr>
            <p:ph type="body" sz="quarter" idx="12"/>
          </p:nvPr>
        </p:nvSpPr>
        <p:spPr>
          <a:xfrm>
            <a:off x="503659" y="1867010"/>
            <a:ext cx="11176000" cy="4103484"/>
          </a:xfrm>
        </p:spPr>
        <p:txBody>
          <a:bodyPr vert="horz" lIns="121920" tIns="60960" rIns="121920" bIns="60960" rtlCol="0" anchor="t">
            <a:normAutofit/>
          </a:bodyPr>
          <a:lstStyle/>
          <a:p>
            <a:r>
              <a:rPr lang="en-US" sz="2133" dirty="0">
                <a:solidFill>
                  <a:srgbClr val="404040"/>
                </a:solidFill>
              </a:rPr>
              <a:t>Uses the </a:t>
            </a:r>
            <a:r>
              <a:rPr lang="en-US" sz="2133" dirty="0">
                <a:solidFill>
                  <a:srgbClr val="404040"/>
                </a:solidFill>
                <a:hlinkClick r:id="rId3"/>
              </a:rPr>
              <a:t>UCI ML Breast Cancer Wisconsin Diagnostic dataset</a:t>
            </a:r>
            <a:endParaRPr lang="en-US" sz="2133" dirty="0">
              <a:solidFill>
                <a:srgbClr val="404040"/>
              </a:solidFill>
            </a:endParaRPr>
          </a:p>
          <a:p>
            <a:r>
              <a:rPr lang="en-US" sz="2133" dirty="0">
                <a:solidFill>
                  <a:srgbClr val="404040"/>
                </a:solidFill>
              </a:rPr>
              <a:t>A simple pipeline:</a:t>
            </a:r>
          </a:p>
          <a:p>
            <a:pPr lvl="1"/>
            <a:r>
              <a:rPr lang="en-US" sz="1866" dirty="0">
                <a:solidFill>
                  <a:srgbClr val="404040"/>
                </a:solidFill>
              </a:rPr>
              <a:t>Standardize the features</a:t>
            </a:r>
          </a:p>
          <a:p>
            <a:pPr lvl="1"/>
            <a:r>
              <a:rPr lang="en-US" sz="1866" dirty="0">
                <a:solidFill>
                  <a:srgbClr val="404040"/>
                </a:solidFill>
              </a:rPr>
              <a:t>Dimensionality reduction</a:t>
            </a:r>
          </a:p>
          <a:p>
            <a:pPr lvl="1"/>
            <a:r>
              <a:rPr lang="en-US" sz="1866" dirty="0">
                <a:solidFill>
                  <a:srgbClr val="404040"/>
                </a:solidFill>
              </a:rPr>
              <a:t>Logistic Regression</a:t>
            </a:r>
          </a:p>
          <a:p>
            <a:r>
              <a:rPr lang="en-US" sz="2133" dirty="0">
                <a:solidFill>
                  <a:srgbClr val="404040"/>
                </a:solidFill>
              </a:rPr>
              <a:t>Save the best model ready to be used by clinicians</a:t>
            </a:r>
          </a:p>
          <a:p>
            <a:r>
              <a:rPr lang="en-US" sz="2133" dirty="0" err="1">
                <a:solidFill>
                  <a:srgbClr val="404040"/>
                </a:solidFill>
              </a:rPr>
              <a:t>Jupyter</a:t>
            </a:r>
            <a:r>
              <a:rPr lang="en-US" sz="2133" dirty="0">
                <a:solidFill>
                  <a:srgbClr val="404040"/>
                </a:solidFill>
              </a:rPr>
              <a:t> notebook</a:t>
            </a:r>
          </a:p>
          <a:p>
            <a:r>
              <a:rPr lang="en-US" sz="2133" dirty="0">
                <a:solidFill>
                  <a:srgbClr val="404040"/>
                </a:solidFill>
              </a:rPr>
              <a:t>Python scripts</a:t>
            </a:r>
          </a:p>
          <a:p>
            <a:pPr lvl="1"/>
            <a:r>
              <a:rPr lang="en-US" sz="1866" dirty="0">
                <a:solidFill>
                  <a:srgbClr val="404040"/>
                </a:solidFill>
              </a:rPr>
              <a:t>Training</a:t>
            </a:r>
          </a:p>
          <a:p>
            <a:pPr lvl="1"/>
            <a:r>
              <a:rPr lang="en-US" sz="1866" dirty="0">
                <a:solidFill>
                  <a:srgbClr val="404040"/>
                </a:solidFill>
              </a:rPr>
              <a:t>Inference</a:t>
            </a:r>
          </a:p>
          <a:p>
            <a:pPr lvl="1"/>
            <a:r>
              <a:rPr lang="en-US" sz="1866" dirty="0">
                <a:solidFill>
                  <a:srgbClr val="404040"/>
                </a:solidFill>
              </a:rPr>
              <a:t>CLI</a:t>
            </a:r>
          </a:p>
        </p:txBody>
      </p:sp>
      <p:pic>
        <p:nvPicPr>
          <p:cNvPr id="5" name="Picture 4">
            <a:extLst>
              <a:ext uri="{FF2B5EF4-FFF2-40B4-BE49-F238E27FC236}">
                <a16:creationId xmlns:a16="http://schemas.microsoft.com/office/drawing/2014/main" id="{B84BA0A7-7420-D1A1-A958-689895971E3B}"/>
              </a:ext>
            </a:extLst>
          </p:cNvPr>
          <p:cNvPicPr>
            <a:picLocks noChangeAspect="1"/>
          </p:cNvPicPr>
          <p:nvPr/>
        </p:nvPicPr>
        <p:blipFill>
          <a:blip r:embed="rId4"/>
          <a:stretch>
            <a:fillRect/>
          </a:stretch>
        </p:blipFill>
        <p:spPr>
          <a:xfrm>
            <a:off x="4846918" y="4382994"/>
            <a:ext cx="3606800" cy="1587500"/>
          </a:xfrm>
          <a:prstGeom prst="rect">
            <a:avLst/>
          </a:prstGeom>
        </p:spPr>
      </p:pic>
    </p:spTree>
    <p:extLst>
      <p:ext uri="{BB962C8B-B14F-4D97-AF65-F5344CB8AC3E}">
        <p14:creationId xmlns:p14="http://schemas.microsoft.com/office/powerpoint/2010/main" val="1363420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1958</TotalTime>
  <Words>2711</Words>
  <Application>Microsoft Macintosh PowerPoint</Application>
  <PresentationFormat>Widescreen</PresentationFormat>
  <Paragraphs>306</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Display</vt:lpstr>
      <vt:lpstr>Arial</vt:lpstr>
      <vt:lpstr>Avenir Book</vt:lpstr>
      <vt:lpstr>Avenir Heavy</vt:lpstr>
      <vt:lpstr>Courier New</vt:lpstr>
      <vt:lpstr>Helvetica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Daniels</dc:creator>
  <cp:lastModifiedBy>Finley Griffin</cp:lastModifiedBy>
  <cp:revision>2</cp:revision>
  <dcterms:created xsi:type="dcterms:W3CDTF">2024-04-29T13:56:55Z</dcterms:created>
  <dcterms:modified xsi:type="dcterms:W3CDTF">2026-03-10T20:41:58Z</dcterms:modified>
</cp:coreProperties>
</file>